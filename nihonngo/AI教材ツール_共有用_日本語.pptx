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4dc88843a144b9" /><Relationship Type="http://schemas.openxmlformats.org/officeDocument/2006/relationships/extended-properties" Target="/docProps/app.xml" Id="Ra99098078cdb435f" /><Relationship Type="http://schemas.openxmlformats.org/officeDocument/2006/relationships/officeDocument" Target="/ppt/presentation.xml" Id="Rd34e69160b91429a" /></Relationships>
</file>

<file path=ppt/presentation.xml><?xml version="1.0" encoding="utf-8"?>
<p:presentation xmlns:p="http://schemas.openxmlformats.org/presentationml/2006/main">
  <p:sldMasterIdLst>
    <p:sldMasterId xmlns:r="http://schemas.openxmlformats.org/officeDocument/2006/relationships" id="2147483648" r:id="Rb1273bf66ec340d7"/>
  </p:sldMasterIdLst>
  <p:notesMasterIdLst>
    <p:notesMasterId xmlns:r="http://schemas.openxmlformats.org/officeDocument/2006/relationships" r:id="Rb654d8a1cbe84d6b"/>
  </p:notesMasterIdLst>
  <p:sldIdLst>
    <p:sldId xmlns:r="http://schemas.openxmlformats.org/officeDocument/2006/relationships" id="256" r:id="R5de7fe85bede4571"/>
    <p:sldId xmlns:r="http://schemas.openxmlformats.org/officeDocument/2006/relationships" id="257" r:id="R290533cd38ff4344"/>
    <p:sldId xmlns:r="http://schemas.openxmlformats.org/officeDocument/2006/relationships" id="258" r:id="R8f53209659314f94"/>
    <p:sldId xmlns:r="http://schemas.openxmlformats.org/officeDocument/2006/relationships" id="259" r:id="R836dcc4a8e9e4d9e"/>
    <p:sldId xmlns:r="http://schemas.openxmlformats.org/officeDocument/2006/relationships" id="260" r:id="Rac941c9900254fb1"/>
    <p:sldId xmlns:r="http://schemas.openxmlformats.org/officeDocument/2006/relationships" id="261" r:id="Rd49a35e451104921"/>
    <p:sldId xmlns:r="http://schemas.openxmlformats.org/officeDocument/2006/relationships" id="262" r:id="R451673af5dee44bb"/>
    <p:sldId xmlns:r="http://schemas.openxmlformats.org/officeDocument/2006/relationships" id="263" r:id="R2f5425ff2d544717"/>
    <p:sldId xmlns:r="http://schemas.openxmlformats.org/officeDocument/2006/relationships" id="264" r:id="Ra6c741509f6c4f60"/>
    <p:sldId xmlns:r="http://schemas.openxmlformats.org/officeDocument/2006/relationships" id="265" r:id="R2acf68745a0245f6"/>
    <p:sldId xmlns:r="http://schemas.openxmlformats.org/officeDocument/2006/relationships" id="266" r:id="R8cbe30d1877545ad"/>
    <p:sldId xmlns:r="http://schemas.openxmlformats.org/officeDocument/2006/relationships" id="267" r:id="Raacc299cb5554c9e"/>
    <p:sldId xmlns:r="http://schemas.openxmlformats.org/officeDocument/2006/relationships" id="268" r:id="R24d81ad1933c4414"/>
    <p:sldId xmlns:r="http://schemas.openxmlformats.org/officeDocument/2006/relationships" id="269" r:id="Rb43677dc4b814e8c"/>
    <p:sldId xmlns:r="http://schemas.openxmlformats.org/officeDocument/2006/relationships" id="270" r:id="Rbcbe2717157b44ac"/>
    <p:sldId xmlns:r="http://schemas.openxmlformats.org/officeDocument/2006/relationships" id="271" r:id="Rb31601b635d247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8d0506734a4c48" /><Relationship Type="http://schemas.openxmlformats.org/officeDocument/2006/relationships/slideMaster" Target="/ppt/slideMasters/slideMaster1.xml" Id="Rb1273bf66ec340d7" /><Relationship Type="http://schemas.openxmlformats.org/officeDocument/2006/relationships/notesMaster" Target="/ppt/notesMasters/notesMaster1.xml" Id="Rb654d8a1cbe84d6b" /><Relationship Type="http://schemas.openxmlformats.org/officeDocument/2006/relationships/presProps" Target="/ppt/presProps.xml" Id="R99c9bacb712e41eb" /><Relationship Type="http://schemas.openxmlformats.org/officeDocument/2006/relationships/tableStyles" Target="/ppt/tableStyles.xml" Id="R76c59b8fab6b42e5" /><Relationship Type="http://schemas.openxmlformats.org/officeDocument/2006/relationships/slide" Target="/ppt/slides/slide1.xml" Id="R5de7fe85bede4571" /><Relationship Type="http://schemas.openxmlformats.org/officeDocument/2006/relationships/slide" Target="/ppt/slides/slide2.xml" Id="R290533cd38ff4344" /><Relationship Type="http://schemas.openxmlformats.org/officeDocument/2006/relationships/slide" Target="/ppt/slides/slide3.xml" Id="R8f53209659314f94" /><Relationship Type="http://schemas.openxmlformats.org/officeDocument/2006/relationships/slide" Target="/ppt/slides/slide4.xml" Id="R836dcc4a8e9e4d9e" /><Relationship Type="http://schemas.openxmlformats.org/officeDocument/2006/relationships/slide" Target="/ppt/slides/slide5.xml" Id="Rac941c9900254fb1" /><Relationship Type="http://schemas.openxmlformats.org/officeDocument/2006/relationships/slide" Target="/ppt/slides/slide6.xml" Id="Rd49a35e451104921" /><Relationship Type="http://schemas.openxmlformats.org/officeDocument/2006/relationships/slide" Target="/ppt/slides/slide7.xml" Id="R451673af5dee44bb" /><Relationship Type="http://schemas.openxmlformats.org/officeDocument/2006/relationships/slide" Target="/ppt/slides/slide8.xml" Id="R2f5425ff2d544717" /><Relationship Type="http://schemas.openxmlformats.org/officeDocument/2006/relationships/slide" Target="/ppt/slides/slide9.xml" Id="Ra6c741509f6c4f60" /><Relationship Type="http://schemas.openxmlformats.org/officeDocument/2006/relationships/slide" Target="/ppt/slides/slide10.xml" Id="R2acf68745a0245f6" /><Relationship Type="http://schemas.openxmlformats.org/officeDocument/2006/relationships/slide" Target="/ppt/slides/slide11.xml" Id="R8cbe30d1877545ad" /><Relationship Type="http://schemas.openxmlformats.org/officeDocument/2006/relationships/slide" Target="/ppt/slides/slide12.xml" Id="Raacc299cb5554c9e" /><Relationship Type="http://schemas.openxmlformats.org/officeDocument/2006/relationships/slide" Target="/ppt/slides/slide13.xml" Id="R24d81ad1933c4414" /><Relationship Type="http://schemas.openxmlformats.org/officeDocument/2006/relationships/slide" Target="/ppt/slides/slide14.xml" Id="Rb43677dc4b814e8c" /><Relationship Type="http://schemas.openxmlformats.org/officeDocument/2006/relationships/slide" Target="/ppt/slides/slide15.xml" Id="Rbcbe2717157b44ac" /><Relationship Type="http://schemas.openxmlformats.org/officeDocument/2006/relationships/slide" Target="/ppt/slides/slide16.xml" Id="Rb31601b635d247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37b2ab88b54b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6c3392d16348cf" /><Relationship Type="http://schemas.openxmlformats.org/officeDocument/2006/relationships/notesMaster" Target="/ppt/notesMasters/notesMaster1.xml" Id="R903a05300c2d48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9f1d6ada49481d" /><Relationship Type="http://schemas.openxmlformats.org/officeDocument/2006/relationships/notesMaster" Target="/ppt/notesMasters/notesMaster1.xml" Id="R162086862f6e4c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3b64259a1c4e1a" /><Relationship Type="http://schemas.openxmlformats.org/officeDocument/2006/relationships/notesMaster" Target="/ppt/notesMasters/notesMaster1.xml" Id="R67967c7624c04d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d7509f48bb495b" /><Relationship Type="http://schemas.openxmlformats.org/officeDocument/2006/relationships/notesMaster" Target="/ppt/notesMasters/notesMaster1.xml" Id="Rf3ac5f3618284f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5eebbbf8db476f" /><Relationship Type="http://schemas.openxmlformats.org/officeDocument/2006/relationships/notesMaster" Target="/ppt/notesMasters/notesMaster1.xml" Id="R9fa9b02685224e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110ebbba0449a2" /><Relationship Type="http://schemas.openxmlformats.org/officeDocument/2006/relationships/notesMaster" Target="/ppt/notesMasters/notesMaster1.xml" Id="R20d52f9e7abd4a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55eead26874f73" /><Relationship Type="http://schemas.openxmlformats.org/officeDocument/2006/relationships/notesMaster" Target="/ppt/notesMasters/notesMaster1.xml" Id="Re2743aa60b9e4e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38b6dad5cb4f6f" /><Relationship Type="http://schemas.openxmlformats.org/officeDocument/2006/relationships/notesMaster" Target="/ppt/notesMasters/notesMaster1.xml" Id="Rc415a83622e7487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67cf4f989c4977" /><Relationship Type="http://schemas.openxmlformats.org/officeDocument/2006/relationships/notesMaster" Target="/ppt/notesMasters/notesMaster1.xml" Id="R37f88da5b0b942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58d9d988454707" /><Relationship Type="http://schemas.openxmlformats.org/officeDocument/2006/relationships/notesMaster" Target="/ppt/notesMasters/notesMaster1.xml" Id="R5d46801b8ea7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8c6123ea6a4f5a" /><Relationship Type="http://schemas.openxmlformats.org/officeDocument/2006/relationships/notesMaster" Target="/ppt/notesMasters/notesMaster1.xml" Id="R79b27e5848004d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d186d29306c459e" /><Relationship Type="http://schemas.openxmlformats.org/officeDocument/2006/relationships/notesMaster" Target="/ppt/notesMasters/notesMaster1.xml" Id="Rde3dd9fe6b8b4cb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87d2738eb14b58" /><Relationship Type="http://schemas.openxmlformats.org/officeDocument/2006/relationships/notesMaster" Target="/ppt/notesMasters/notesMaster1.xml" Id="R1b9f9b8e27e442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7ea928fe3a4713" /><Relationship Type="http://schemas.openxmlformats.org/officeDocument/2006/relationships/notesMaster" Target="/ppt/notesMasters/notesMaster1.xml" Id="R14a8530b3ad345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fa717ac125415f" /><Relationship Type="http://schemas.openxmlformats.org/officeDocument/2006/relationships/notesMaster" Target="/ppt/notesMasters/notesMaster1.xml" Id="R707f914a528a40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922165936b34429" /><Relationship Type="http://schemas.openxmlformats.org/officeDocument/2006/relationships/notesMaster" Target="/ppt/notesMasters/notesMaster1.xml" Id="R2bc0c232fe4e45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先生はすでにClaudeを使って教材や小さなツールを作っています。今日はAIの使い方を一から説明するのではなく、何を作るか、どこまで作るか、どの媒体を選ぶかを一緒に整理します。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Vibe Codingでは、利用者がすべてのコードを書くのではなく、AIと会話し、結果を見て修正を頼みます。先生に必要なのは、解決したい問題を説明し、結果が本当に求めるものか判断することです。AIは能力の高いインターンのような存在で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一番重要な分類です。Aは開発時にAIを使いますが、完成後は学生が使うたびにAIを呼びません。Bは、会話や添削のたびにAIを呼びます。この違いが、開発難易度と運営コストを大きく変えます。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般的な静的ソフトウェアは、完成後に利用者が増えても追加コストは比較的小さいことが多いです。しかしAIサービスは、利用のたびにTokenや音声料金が発生します。使われるほど赤字になる設計もあるので、最初に区別しておく必要があり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Gemini Canvasは、会話の中でWebページやTTS、Gemini機能を試せるため、アイデアの価値を早く確認するのに便利です。ただし共有できるPrototypeと、多数の学生が長期利用できる正式サービスは別です。利用枠、共有データ、権限を確認します。</a:t>
            </a:r>
          </a:p>
          <a:p xmlns:a="http://schemas.openxmlformats.org/drawingml/2006/main">
            <a:r>
              <a:t/>
            </a:r>
          </a:p>
          <a:p xmlns:a="http://schemas.openxmlformats.org/drawingml/2006/main">
            <a:r>
              <a:t>[Sources]</a:t>
            </a:r>
          </a:p>
          <a:p xmlns:a="http://schemas.openxmlformats.org/drawingml/2006/main">
            <a:r>
              <a:t>- https://support.google.com/gemini/answer/16047321?hl=en</a:t>
            </a:r>
          </a:p>
          <a:p xmlns:a="http://schemas.openxmlformats.org/drawingml/2006/main">
            <a:r>
              <a:t>- https://support.google.com/gemini/answer/16419134?hl=en-GB</a:t>
            </a:r>
          </a:p>
          <a:p xmlns:a="http://schemas.openxmlformats.org/drawingml/2006/main">
            <a:r>
              <a:t>- User-provided Gemini examples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フロントエンドは学生が見る画面、バックエンドはルールを処理する厨房、データベースは情報を保存する冷蔵庫と帳簿、サーバーは店を動かす場所と設備です。ログイン、学習履歴、決済、API Keyの安全な保存にはバックエンドが必要です。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Levelは品質順位ではなく、技術と運営責任の大きさです。初心者はLevel 1から始め、学生データが必要ならLevel 2、生成AIを入れるならLevel 3、商用公開ならLevel 4として考えます。個人単語カードはLevel 2の例です。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 https://newslin-design.github.io/wordCard.html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はClaudeでPDFを作りました。最初の成果を見るには便利ですが、次の課やレイアウト変更のたびに作り直す問題が出ます。本当に必要だったのは一枚のPDFではなく、教材を繰り返し作れる道具でした。Webも印刷やPDF保存ができ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 Screenshot: https://newslin-design.github.io/nihonngo/sheet.html?id=n3-02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生の保存や提出は不可能ではありません。ただし、アカウント、データベース、権限、個人情報が必要になります。最初のバージョンでは、繰り返し生成でき、操作と印刷ができる漢字練習シートだけに集中しました。</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ータとUIを分けます。今回一番難しかったのは、画面ではなく筆順データでした。KanjiVGが見つかったことで、筆順パスを利用できました。データとUIを分ければ、新しい漢字を追加するときはデータだけを増やし、テンプレート修正は全教材へ反映できます。</a:t>
            </a:r>
          </a:p>
          <a:p xmlns:a="http://schemas.openxmlformats.org/drawingml/2006/main">
            <a:r>
              <a:t/>
            </a:r>
          </a:p>
          <a:p xmlns:a="http://schemas.openxmlformats.org/drawingml/2006/main">
            <a:r>
              <a:t>[Sources]</a:t>
            </a:r>
          </a:p>
          <a:p xmlns:a="http://schemas.openxmlformats.org/drawingml/2006/main">
            <a:r>
              <a:t>- https://kanjivg.tagaini.net/</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一般的なChatは、こちらが渡した内容をもとに回答します。Claude CodeのようなAgentは、プロジェクト全体を探索し、複数ファイルを修正し、チェックやテストを実行できます。先生が覚えるべきなのはコマンドではなく、目的を説明し、提案と結果を判断することです。</a:t>
            </a:r>
          </a:p>
          <a:p xmlns:a="http://schemas.openxmlformats.org/drawingml/2006/main">
            <a:r>
              <a:t/>
            </a:r>
          </a:p>
          <a:p xmlns:a="http://schemas.openxmlformats.org/drawingml/2006/main">
            <a:r>
              <a:t>[Sources]</a:t>
            </a:r>
          </a:p>
          <a:p xmlns:a="http://schemas.openxmlformats.org/drawingml/2006/main">
            <a:r>
              <a:t>- https://docs.anthropic.com/ja/docs/claude-code</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モでは四回すり合わせます。まず変更せずに構造を説明してもらい、次に最小の案を出してもらいます。方向を確認してから実行し、画面と印刷結果を見て自然な言葉で再調整します。権限要求が分からない場合は許可せず、何をするのか簡単に説明してもらいます。</a:t>
            </a:r>
          </a:p>
          <a:p xmlns:a="http://schemas.openxmlformats.org/drawingml/2006/main">
            <a:r>
              <a:t/>
            </a:r>
          </a:p>
          <a:p xmlns:a="http://schemas.openxmlformats.org/drawingml/2006/main">
            <a:r>
              <a:t>デモ用プロンプト1：この漢字練習サイトの構造を読んでください。まだ変更しないでください。教材データ、テンプレート、機能がどこにあるか説明してください。</a:t>
            </a:r>
          </a:p>
          <a:p xmlns:a="http://schemas.openxmlformats.org/drawingml/2006/main">
            <a:r>
              <a:t/>
            </a:r>
          </a:p>
          <a:p xmlns:a="http://schemas.openxmlformats.org/drawingml/2006/main">
            <a:r>
              <a:t>プロンプト2：解答モードで答えを見分けやすくしたいです。最小限の案を先に出してください。</a:t>
            </a:r>
          </a:p>
          <a:p xmlns:a="http://schemas.openxmlformats.org/drawingml/2006/main">
            <a:r>
              <a:t/>
            </a:r>
          </a:p>
          <a:p xmlns:a="http://schemas.openxmlformats.org/drawingml/2006/main">
            <a:r>
              <a:t>プロンプト3：この方向で修正し、練習モードとA4印刷への影響を確認してください。</a:t>
            </a:r>
          </a:p>
          <a:p xmlns:a="http://schemas.openxmlformats.org/drawingml/2006/main">
            <a:r>
              <a:t/>
            </a:r>
          </a:p>
          <a:p xmlns:a="http://schemas.openxmlformats.org/drawingml/2006/main">
            <a:r>
              <a:t>プロンプト4：画面は見やすいですが、印刷では色が薄すぎます。印刷用スタイルだけ調整してください。</a:t>
            </a:r>
          </a:p>
          <a:p xmlns:a="http://schemas.openxmlformats.org/drawingml/2006/main">
            <a:r>
              <a:t/>
            </a:r>
          </a:p>
          <a:p xmlns:a="http://schemas.openxmlformats.org/drawingml/2006/main">
            <a:r>
              <a:t>[Sources]</a:t>
            </a:r>
          </a:p>
          <a:p xmlns:a="http://schemas.openxmlformats.org/drawingml/2006/main">
            <a:r>
              <a:t>- https://docs.anthropic.com/ja/docs/claude-code</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純粋な静的サイトはGitHub Pagesで公開できます。Google Sheetをデータとして使う小規模ツールにはGoogle Apps Scriptが便利です。AIツールはランキングで一つを選ぶのではなく、考える段階はChat、試す段階はCanvas、実際のプロジェクトを育てる段階はAgentとして使い分けます。</a:t>
            </a:r>
          </a:p>
          <a:p xmlns:a="http://schemas.openxmlformats.org/drawingml/2006/main">
            <a:r>
              <a:t/>
            </a:r>
          </a:p>
          <a:p xmlns:a="http://schemas.openxmlformats.org/drawingml/2006/main">
            <a:r>
              <a:t>[Sources]</a:t>
            </a:r>
          </a:p>
          <a:p xmlns:a="http://schemas.openxmlformats.org/drawingml/2006/main">
            <a:r>
              <a:t>- https://docs.github.com/en/pages/getting-started-with-github-pages/what-is-github-pages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教師の本当の強みは、学生を知っていることです。台湾の学習者は漢字の意味に慣れていても、日本語の読み方が弱い場合があります。旅行、交流、日本文化への興味など、目的も違います。教師はAIが生成した教材の自然さ、難易度、教育的価値を判断し、実際の授業で試して改善でき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は能力を拡張する道具です。得意な部分も、間違いも拡張します。大切なのは、教師が持つ教育の洞察を中心に置き、AIという能力の高いインターンを導くことです。AIは学生がなぜ日本語を学ぶのか知りません。でも先生は知っています。</a:t>
            </a:r>
          </a:p>
          <a:p xmlns:a="http://schemas.openxmlformats.org/drawingml/2006/main">
            <a:r>
              <a:t/>
            </a:r>
          </a:p>
          <a:p xmlns:a="http://schemas.openxmlformats.org/drawingml/2006/main">
            <a:r>
              <a:t>[Sources]</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れは次回のテーマです。MCPはAIを外部のデータやツールにつなぐ仕組みです。Notionでタスクを整理したり、Figmaや3Dソフトを操作したり、ブラウザでWebサイトをテストしたりできます。今回はプログラムサービスの設計に絞るため、詳しく扱いません。</a:t>
            </a:r>
          </a:p>
          <a:p xmlns:a="http://schemas.openxmlformats.org/drawingml/2006/main">
            <a:r>
              <a:t/>
            </a:r>
          </a:p>
          <a:p xmlns:a="http://schemas.openxmlformats.org/drawingml/2006/main">
            <a:r>
              <a:t>[Sources]</a:t>
            </a:r>
          </a:p>
          <a:p xmlns:a="http://schemas.openxmlformats.org/drawingml/2006/main">
            <a:r>
              <a:t>- https://modelcontextprotocol.io/docs/getting-started/intro</a:t>
            </a:r>
          </a:p>
          <a:p xmlns:a="http://schemas.openxmlformats.org/drawingml/2006/main">
            <a:r>
              <a:t>- User-authored workshop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816feed96d45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e173163afa4456" /><Relationship Type="http://schemas.openxmlformats.org/officeDocument/2006/relationships/slideLayout" Target="/ppt/slideLayouts/slideLayout1.xml" Id="Rdbc2fea7438c4f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c2fea7438c4f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2cae200035f49c6" /><Relationship Type="http://schemas.openxmlformats.org/officeDocument/2006/relationships/notesSlide" Target="/ppt/notesSlides/notesSlide1.xml" Id="R9357417e8dfb44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c779b6f6a554660" /><Relationship Type="http://schemas.openxmlformats.org/officeDocument/2006/relationships/notesSlide" Target="/ppt/notesSlides/notesSlide2.xml" Id="R5ba46548f55146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0553d7ef82b434c" /><Relationship Type="http://schemas.openxmlformats.org/officeDocument/2006/relationships/notesSlide" Target="/ppt/notesSlides/notesSlide3.xml" Id="R01612884621145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4bfb8ffc614500" /><Relationship Type="http://schemas.openxmlformats.org/officeDocument/2006/relationships/notesSlide" Target="/ppt/notesSlides/notesSlide4.xml" Id="R0bd11c7f886e4a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6ab3ea63fd445f5" /><Relationship Type="http://schemas.openxmlformats.org/officeDocument/2006/relationships/notesSlide" Target="/ppt/notesSlides/notesSlide5.xml" Id="R8c50269de6d249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a55aba337c40e5" /><Relationship Type="http://schemas.openxmlformats.org/officeDocument/2006/relationships/notesSlide" Target="/ppt/notesSlides/notesSlide6.xml" Id="Rdc433d79fbd644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22ab690d583492d" /><Relationship Type="http://schemas.openxmlformats.org/officeDocument/2006/relationships/notesSlide" Target="/ppt/notesSlides/notesSlide7.xml" Id="R2f020b33392748f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ccdbe0c23c647f7" /><Relationship Type="http://schemas.openxmlformats.org/officeDocument/2006/relationships/image" Target="/ppt/media/image.jpeg" Id="R97a8786003b54eff" /><Relationship Type="http://schemas.openxmlformats.org/officeDocument/2006/relationships/notesSlide" Target="/ppt/notesSlides/notesSlide8.xml" Id="R1351570ddffa46e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78fb490357a436f" /><Relationship Type="http://schemas.openxmlformats.org/officeDocument/2006/relationships/notesSlide" Target="/ppt/notesSlides/notesSlide9.xml" Id="Rc87c280b59e247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1f61d79496f4fd6" /><Relationship Type="http://schemas.openxmlformats.org/officeDocument/2006/relationships/notesSlide" Target="/ppt/notesSlides/notesSlide10.xml" Id="Rfefeb94a3e6e41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c87fb6c688447a6" /><Relationship Type="http://schemas.openxmlformats.org/officeDocument/2006/relationships/notesSlide" Target="/ppt/notesSlides/notesSlide11.xml" Id="R9265a4bcd7754f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0ea438394344c2a" /><Relationship Type="http://schemas.openxmlformats.org/officeDocument/2006/relationships/notesSlide" Target="/ppt/notesSlides/notesSlide12.xml" Id="R071fac17019e418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f5ae494c9ad419e" /><Relationship Type="http://schemas.openxmlformats.org/officeDocument/2006/relationships/notesSlide" Target="/ppt/notesSlides/notesSlide13.xml" Id="R3f915d38ab5642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be8b17c32e544d0" /><Relationship Type="http://schemas.openxmlformats.org/officeDocument/2006/relationships/notesSlide" Target="/ppt/notesSlides/notesSlide14.xml" Id="Rc3d1edfd7a2d491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b60d7f3abf14672" /><Relationship Type="http://schemas.openxmlformats.org/officeDocument/2006/relationships/notesSlide" Target="/ppt/notesSlides/notesSlide15.xml" Id="Red7d89691d974b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52f656e941046a0" /><Relationship Type="http://schemas.openxmlformats.org/officeDocument/2006/relationships/notesSlide" Target="/ppt/notesSlides/notesSlide16.xml" Id="R2d1faafd8ee04c1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C14F83-6FA9-414D-8C68-90F320C564DD}"/>
              </a:ext>
            </a:extLst>
          </p:cNvPr>
          <p:cNvSpPr>
            <a:spLocks xmlns:a="http://schemas.openxmlformats.org/drawingml/2006/main" noGrp="1"/>
          </p:cNvSpPr>
          <p:nvPr/>
        </p:nvSpPr>
        <p:spPr>
          <a:xfrm xmlns:a="http://schemas.openxmlformats.org/drawingml/2006/main">
            <a:off x="609600" y="4953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3D8DFF"/>
                </a:solidFill>
                <a:latin typeface="Yu Gothic"/>
                <a:ea typeface="Yu Gothic"/>
                <a:cs typeface="Yu Gothic"/>
              </a:defRPr>
            </a:pPr>
            <a:r>
              <a:rPr sz="1350" b="1">
                <a:solidFill>
                  <a:srgbClr val="3D8DFF"/>
                </a:solidFill>
                <a:latin typeface="Yu Gothic"/>
                <a:ea typeface="Yu Gothic"/>
                <a:cs typeface="Yu Gothic"/>
              </a:rPr>
              <a:t>AI × 日本語教育</a:t>
            </a:r>
          </a:p>
        </p:txBody>
      </p:sp>
      <p:sp>
        <p:nvSpPr>
          <p:cNvPr id="2" name="">
            <a:extLst xmlns:a="http://schemas.openxmlformats.org/drawingml/2006/main">
              <a:ext uri="{FF2B5EF4-FFF2-40B4-BE49-F238E27FC236}">
                <a16:creationId xmlns:a16="http://schemas.microsoft.com/office/drawing/2014/main" id="{856C3104-15DE-4ADF-9FC9-0335A0C6424F}"/>
              </a:ext>
            </a:extLst>
          </p:cNvPr>
          <p:cNvSpPr>
            <a:spLocks xmlns:a="http://schemas.openxmlformats.org/drawingml/2006/main" noGrp="1"/>
          </p:cNvSpPr>
          <p:nvPr/>
        </p:nvSpPr>
        <p:spPr>
          <a:xfrm xmlns:a="http://schemas.openxmlformats.org/drawingml/2006/main">
            <a:off x="609600" y="1428750"/>
            <a:ext cx="7239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4950" b="1">
                <a:solidFill>
                  <a:srgbClr val="111111"/>
                </a:solidFill>
                <a:latin typeface="Yu Gothic"/>
                <a:ea typeface="Yu Gothic"/>
                <a:cs typeface="Yu Gothic"/>
              </a:defRPr>
            </a:pPr>
            <a:r>
              <a:rPr sz="4950" b="1">
                <a:solidFill>
                  <a:srgbClr val="111111"/>
                </a:solidFill>
                <a:latin typeface="Yu Gothic"/>
                <a:ea typeface="Yu Gothic"/>
                <a:cs typeface="Yu Gothic"/>
              </a:rPr>
              <a:t>AIで自分専用の</a:t>
            </a:r>
          </a:p>
          <a:p xmlns:a="http://schemas.openxmlformats.org/drawingml/2006/main">
            <a:pPr algn="l">
              <a:defRPr sz="4950" b="1">
                <a:solidFill>
                  <a:srgbClr val="111111"/>
                </a:solidFill>
                <a:latin typeface="Yu Gothic"/>
                <a:ea typeface="Yu Gothic"/>
                <a:cs typeface="Yu Gothic"/>
              </a:defRPr>
            </a:pPr>
            <a:r>
              <a:rPr sz="4950" b="1">
                <a:solidFill>
                  <a:srgbClr val="111111"/>
                </a:solidFill>
                <a:latin typeface="Yu Gothic"/>
                <a:ea typeface="Yu Gothic"/>
                <a:cs typeface="Yu Gothic"/>
              </a:rPr>
              <a:t>教材ツールを作る</a:t>
            </a:r>
          </a:p>
        </p:txBody>
      </p:sp>
      <p:sp>
        <p:nvSpPr>
          <p:cNvPr id="3" name="">
            <a:extLst xmlns:a="http://schemas.openxmlformats.org/drawingml/2006/main">
              <a:ext uri="{FF2B5EF4-FFF2-40B4-BE49-F238E27FC236}">
                <a16:creationId xmlns:a16="http://schemas.microsoft.com/office/drawing/2014/main" id="{1FC402FF-B499-478C-9C3D-0CFE43478DB1}"/>
              </a:ext>
            </a:extLst>
          </p:cNvPr>
          <p:cNvSpPr>
            <a:spLocks xmlns:a="http://schemas.openxmlformats.org/drawingml/2006/main" noGrp="1"/>
          </p:cNvSpPr>
          <p:nvPr/>
        </p:nvSpPr>
        <p:spPr>
          <a:xfrm xmlns:a="http://schemas.openxmlformats.org/drawingml/2006/main">
            <a:off x="647700" y="3429000"/>
            <a:ext cx="666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0">
                <a:solidFill>
                  <a:srgbClr val="5D6470"/>
                </a:solidFill>
                <a:latin typeface="Yu Gothic"/>
                <a:ea typeface="Yu Gothic"/>
                <a:cs typeface="Yu Gothic"/>
              </a:defRPr>
            </a:pPr>
            <a:r>
              <a:rPr sz="2100" b="0">
                <a:solidFill>
                  <a:srgbClr val="5D6470"/>
                </a:solidFill>
                <a:latin typeface="Yu Gothic"/>
                <a:ea typeface="Yu Gothic"/>
                <a:cs typeface="Yu Gothic"/>
              </a:rPr>
              <a:t>アイデアを形にするまでに考えたこと</a:t>
            </a:r>
          </a:p>
        </p:txBody>
      </p:sp>
      <p:sp>
        <p:nvSpPr>
          <p:cNvPr id="4" name="">
            <a:extLst xmlns:a="http://schemas.openxmlformats.org/drawingml/2006/main">
              <a:ext uri="{FF2B5EF4-FFF2-40B4-BE49-F238E27FC236}">
                <a16:creationId xmlns:a16="http://schemas.microsoft.com/office/drawing/2014/main" id="{BD9392FC-FD56-430F-ABA3-8D970B8ADF3D}"/>
              </a:ext>
            </a:extLst>
          </p:cNvPr>
          <p:cNvSpPr>
            <a:spLocks xmlns:a="http://schemas.openxmlformats.org/drawingml/2006/main" noGrp="1"/>
          </p:cNvSpPr>
          <p:nvPr/>
        </p:nvSpPr>
        <p:spPr>
          <a:xfrm xmlns:a="http://schemas.openxmlformats.org/drawingml/2006/main">
            <a:off x="8058150" y="895350"/>
            <a:ext cx="3429000" cy="4572000"/>
          </a:xfrm>
          <a:prstGeom xmlns:a="http://schemas.openxmlformats.org/drawingml/2006/main" prst="roundRect">
            <a:avLst>
              <a:gd name="adj" fmla="val 3333"/>
            </a:avLst>
          </a:prstGeom>
          <a:solidFill xmlns:a="http://schemas.openxmlformats.org/drawingml/2006/main">
            <a:srgbClr val="EAF6F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4940B7E-EBEA-4ADF-8D69-2F275B144029}"/>
              </a:ext>
            </a:extLst>
          </p:cNvPr>
          <p:cNvSpPr>
            <a:spLocks xmlns:a="http://schemas.openxmlformats.org/drawingml/2006/main" noGrp="1"/>
          </p:cNvSpPr>
          <p:nvPr/>
        </p:nvSpPr>
        <p:spPr>
          <a:xfrm xmlns:a="http://schemas.openxmlformats.org/drawingml/2006/main">
            <a:off x="8420100" y="1428750"/>
            <a:ext cx="2762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031"/>
          </a:bodyPr>
          <a:lstStyle xmlns:a="http://schemas.openxmlformats.org/drawingml/2006/main"/>
          <a:p xmlns:a="http://schemas.openxmlformats.org/drawingml/2006/main">
            <a:pPr algn="l">
              <a:defRPr sz="3000" b="1">
                <a:solidFill>
                  <a:srgbClr val="111111"/>
                </a:solidFill>
                <a:latin typeface="Yu Gothic"/>
                <a:ea typeface="Yu Gothic"/>
                <a:cs typeface="Yu Gothic"/>
              </a:defRPr>
            </a:pPr>
            <a:r>
              <a:rPr sz="3000" b="1">
                <a:solidFill>
                  <a:srgbClr val="111111"/>
                </a:solidFill>
                <a:latin typeface="Yu Gothic"/>
                <a:ea typeface="Yu Gothic"/>
                <a:cs typeface="Yu Gothic"/>
              </a:rPr>
              <a:t>AIは</a:t>
            </a:r>
          </a:p>
          <a:p xmlns:a="http://schemas.openxmlformats.org/drawingml/2006/main">
            <a:pPr algn="l">
              <a:defRPr sz="3000" b="1">
                <a:solidFill>
                  <a:srgbClr val="111111"/>
                </a:solidFill>
                <a:latin typeface="Yu Gothic"/>
                <a:ea typeface="Yu Gothic"/>
                <a:cs typeface="Yu Gothic"/>
              </a:defRPr>
            </a:pPr>
            <a:r>
              <a:rPr sz="3000" b="1">
                <a:solidFill>
                  <a:srgbClr val="111111"/>
                </a:solidFill>
                <a:latin typeface="Yu Gothic"/>
                <a:ea typeface="Yu Gothic"/>
                <a:cs typeface="Yu Gothic"/>
              </a:rPr>
              <a:t>能力を拡張する。</a:t>
            </a:r>
          </a:p>
        </p:txBody>
      </p:sp>
      <p:cxnSp>
        <p:nvCxnSpPr>
          <p:cNvPr id="14" name=""/>
          <p:cNvCxnSpPr/>
          <p:nvPr/>
        </p:nvCxnSpPr>
        <p:spPr>
          <a:xfrm xmlns:a="http://schemas.openxmlformats.org/drawingml/2006/main">
            <a:off x="8420100" y="2876550"/>
            <a:ext cx="2095500" cy="0"/>
          </a:xfrm>
          <a:prstGeom xmlns:a="http://schemas.openxmlformats.org/drawingml/2006/main" prst="straightConnector1">
            <a:avLst/>
          </a:prstGeom>
          <a:ln xmlns:a="http://schemas.openxmlformats.org/drawingml/2006/main" w="38100">
            <a:solidFill>
              <a:srgbClr val="3D8DFF"/>
            </a:solidFill>
            <a:prstDash val="solid"/>
          </a:ln>
        </p:spPr>
      </p:cxnSp>
      <p:sp>
        <p:nvSpPr>
          <p:cNvPr id="7" name="">
            <a:extLst xmlns:a="http://schemas.openxmlformats.org/drawingml/2006/main">
              <a:ext uri="{FF2B5EF4-FFF2-40B4-BE49-F238E27FC236}">
                <a16:creationId xmlns:a16="http://schemas.microsoft.com/office/drawing/2014/main" id="{614FDE28-9424-41C7-8B70-9648C2F8F6E1}"/>
              </a:ext>
            </a:extLst>
          </p:cNvPr>
          <p:cNvSpPr>
            <a:spLocks xmlns:a="http://schemas.openxmlformats.org/drawingml/2006/main" noGrp="1"/>
          </p:cNvSpPr>
          <p:nvPr/>
        </p:nvSpPr>
        <p:spPr>
          <a:xfrm xmlns:a="http://schemas.openxmlformats.org/drawingml/2006/main">
            <a:off x="8420100" y="3257550"/>
            <a:ext cx="266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中心にあるのは、</a:t>
            </a:r>
          </a:p>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教師の専門知識。</a:t>
            </a:r>
          </a:p>
        </p:txBody>
      </p:sp>
      <p:sp>
        <p:nvSpPr>
          <p:cNvPr id="8" name="">
            <a:extLst xmlns:a="http://schemas.openxmlformats.org/drawingml/2006/main">
              <a:ext uri="{FF2B5EF4-FFF2-40B4-BE49-F238E27FC236}">
                <a16:creationId xmlns:a16="http://schemas.microsoft.com/office/drawing/2014/main" id="{041064A9-5E3E-4345-B3EE-E023E61A1701}"/>
              </a:ext>
            </a:extLst>
          </p:cNvPr>
          <p:cNvSpPr>
            <a:spLocks xmlns:a="http://schemas.openxmlformats.org/drawingml/2006/main" noGrp="1"/>
          </p:cNvSpPr>
          <p:nvPr/>
        </p:nvSpPr>
        <p:spPr>
          <a:xfrm xmlns:a="http://schemas.openxmlformats.org/drawingml/2006/main">
            <a:off x="647700" y="61531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5D6470"/>
                </a:solidFill>
                <a:latin typeface="Yu Gothic"/>
                <a:ea typeface="Yu Gothic"/>
                <a:cs typeface="Yu Gothic"/>
              </a:defRPr>
            </a:pPr>
            <a:r>
              <a:rPr sz="1350" b="0">
                <a:solidFill>
                  <a:srgbClr val="5D6470"/>
                </a:solidFill>
                <a:latin typeface="Yu Gothic"/>
                <a:ea typeface="Yu Gothic"/>
                <a:cs typeface="Yu Gothic"/>
              </a:rPr>
              <a:t>すでにClaudeを使っている先生へ</a:t>
            </a:r>
          </a:p>
        </p:txBody>
      </p:sp>
    </p:spTree>
    <p:extLst>
      <p:ext uri="{BB962C8B-B14F-4D97-AF65-F5344CB8AC3E}">
        <p14:creationId xmlns:p14="http://schemas.microsoft.com/office/powerpoint/2010/main" val="18954296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D8A4E15-3794-421B-9CBE-ACF6B41952D1}"/>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1｜考え方</a:t>
            </a:r>
          </a:p>
        </p:txBody>
      </p:sp>
      <p:sp>
        <p:nvSpPr>
          <p:cNvPr id="2" name="">
            <a:extLst xmlns:a="http://schemas.openxmlformats.org/drawingml/2006/main">
              <a:ext uri="{FF2B5EF4-FFF2-40B4-BE49-F238E27FC236}">
                <a16:creationId xmlns:a16="http://schemas.microsoft.com/office/drawing/2014/main" id="{09612FC3-8004-4E68-AD30-67F000C37C4C}"/>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Vibe Coding＝AIと会話しながら作る</a:t>
            </a:r>
          </a:p>
        </p:txBody>
      </p:sp>
      <p:cxnSp>
        <p:nvCxnSpPr>
          <p:cNvPr id="17"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2C163A37-679E-4113-8260-D996862E8ECC}"/>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02</a:t>
            </a:r>
          </a:p>
        </p:txBody>
      </p:sp>
      <p:sp>
        <p:nvSpPr>
          <p:cNvPr id="5" name="">
            <a:extLst xmlns:a="http://schemas.openxmlformats.org/drawingml/2006/main">
              <a:ext uri="{FF2B5EF4-FFF2-40B4-BE49-F238E27FC236}">
                <a16:creationId xmlns:a16="http://schemas.microsoft.com/office/drawing/2014/main" id="{AC4CE54D-36B2-42D1-A439-132D745E95E1}"/>
              </a:ext>
            </a:extLst>
          </p:cNvPr>
          <p:cNvSpPr>
            <a:spLocks xmlns:a="http://schemas.openxmlformats.org/drawingml/2006/main" noGrp="1"/>
          </p:cNvSpPr>
          <p:nvPr/>
        </p:nvSpPr>
        <p:spPr>
          <a:xfrm xmlns:a="http://schemas.openxmlformats.org/drawingml/2006/main">
            <a:off x="609600" y="1866900"/>
            <a:ext cx="5524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「漢字を練習できて、</a:t>
            </a:r>
          </a:p>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筆順も見られ、A4で印刷できる</a:t>
            </a:r>
          </a:p>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Webページを作ってください」</a:t>
            </a:r>
          </a:p>
        </p:txBody>
      </p:sp>
      <p:sp>
        <p:nvSpPr>
          <p:cNvPr id="6" name="">
            <a:extLst xmlns:a="http://schemas.openxmlformats.org/drawingml/2006/main">
              <a:ext uri="{FF2B5EF4-FFF2-40B4-BE49-F238E27FC236}">
                <a16:creationId xmlns:a16="http://schemas.microsoft.com/office/drawing/2014/main" id="{EF96564A-2CBF-4BBD-809D-B8E03BE21983}"/>
              </a:ext>
            </a:extLst>
          </p:cNvPr>
          <p:cNvSpPr>
            <a:spLocks xmlns:a="http://schemas.openxmlformats.org/drawingml/2006/main" noGrp="1"/>
          </p:cNvSpPr>
          <p:nvPr/>
        </p:nvSpPr>
        <p:spPr>
          <a:xfrm xmlns:a="http://schemas.openxmlformats.org/drawingml/2006/main">
            <a:off x="7239000" y="1866900"/>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見る</a:t>
            </a:r>
          </a:p>
        </p:txBody>
      </p:sp>
      <p:sp>
        <p:nvSpPr>
          <p:cNvPr id="7" name="">
            <a:extLst xmlns:a="http://schemas.openxmlformats.org/drawingml/2006/main">
              <a:ext uri="{FF2B5EF4-FFF2-40B4-BE49-F238E27FC236}">
                <a16:creationId xmlns:a16="http://schemas.microsoft.com/office/drawing/2014/main" id="{3204E075-B240-4926-B8C1-7B449A83F2BE}"/>
              </a:ext>
            </a:extLst>
          </p:cNvPr>
          <p:cNvSpPr>
            <a:spLocks xmlns:a="http://schemas.openxmlformats.org/drawingml/2006/main" noGrp="1"/>
          </p:cNvSpPr>
          <p:nvPr/>
        </p:nvSpPr>
        <p:spPr>
          <a:xfrm xmlns:a="http://schemas.openxmlformats.org/drawingml/2006/main">
            <a:off x="7239000" y="23812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結果を実際に使う</a:t>
            </a:r>
          </a:p>
        </p:txBody>
      </p:sp>
      <p:cxnSp>
        <p:nvCxnSpPr>
          <p:cNvPr id="22" name=""/>
          <p:cNvCxnSpPr/>
          <p:nvPr/>
        </p:nvCxnSpPr>
        <p:spPr>
          <a:xfrm xmlns:a="http://schemas.openxmlformats.org/drawingml/2006/main">
            <a:off x="7239000" y="2952750"/>
            <a:ext cx="3429000" cy="0"/>
          </a:xfrm>
          <a:prstGeom xmlns:a="http://schemas.openxmlformats.org/drawingml/2006/main" prst="straightConnector1">
            <a:avLst/>
          </a:prstGeom>
          <a:ln xmlns:a="http://schemas.openxmlformats.org/drawingml/2006/main" w="19050">
            <a:solidFill>
              <a:srgbClr val="C6CBD2"/>
            </a:solidFill>
            <a:prstDash val="solid"/>
          </a:ln>
        </p:spPr>
      </p:cxnSp>
      <p:sp>
        <p:nvSpPr>
          <p:cNvPr id="9" name="">
            <a:extLst xmlns:a="http://schemas.openxmlformats.org/drawingml/2006/main">
              <a:ext uri="{FF2B5EF4-FFF2-40B4-BE49-F238E27FC236}">
                <a16:creationId xmlns:a16="http://schemas.microsoft.com/office/drawing/2014/main" id="{AB68538F-3F09-4A33-BFDD-5F2320C8E75F}"/>
              </a:ext>
            </a:extLst>
          </p:cNvPr>
          <p:cNvSpPr>
            <a:spLocks xmlns:a="http://schemas.openxmlformats.org/drawingml/2006/main" noGrp="1"/>
          </p:cNvSpPr>
          <p:nvPr/>
        </p:nvSpPr>
        <p:spPr>
          <a:xfrm xmlns:a="http://schemas.openxmlformats.org/drawingml/2006/main">
            <a:off x="7239000" y="3162300"/>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伝える</a:t>
            </a:r>
          </a:p>
        </p:txBody>
      </p:sp>
      <p:sp>
        <p:nvSpPr>
          <p:cNvPr id="10" name="">
            <a:extLst xmlns:a="http://schemas.openxmlformats.org/drawingml/2006/main">
              <a:ext uri="{FF2B5EF4-FFF2-40B4-BE49-F238E27FC236}">
                <a16:creationId xmlns:a16="http://schemas.microsoft.com/office/drawing/2014/main" id="{446B31DB-6EF7-4497-8528-38D5B8C038A2}"/>
              </a:ext>
            </a:extLst>
          </p:cNvPr>
          <p:cNvSpPr>
            <a:spLocks xmlns:a="http://schemas.openxmlformats.org/drawingml/2006/main" noGrp="1"/>
          </p:cNvSpPr>
          <p:nvPr/>
        </p:nvSpPr>
        <p:spPr>
          <a:xfrm xmlns:a="http://schemas.openxmlformats.org/drawingml/2006/main">
            <a:off x="7239000" y="36766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違いを普通の言葉で説明する</a:t>
            </a:r>
          </a:p>
        </p:txBody>
      </p:sp>
      <p:cxnSp>
        <p:nvCxnSpPr>
          <p:cNvPr id="25" name=""/>
          <p:cNvCxnSpPr/>
          <p:nvPr/>
        </p:nvCxnSpPr>
        <p:spPr>
          <a:xfrm xmlns:a="http://schemas.openxmlformats.org/drawingml/2006/main">
            <a:off x="7239000" y="4248150"/>
            <a:ext cx="3429000" cy="0"/>
          </a:xfrm>
          <a:prstGeom xmlns:a="http://schemas.openxmlformats.org/drawingml/2006/main" prst="straightConnector1">
            <a:avLst/>
          </a:prstGeom>
          <a:ln xmlns:a="http://schemas.openxmlformats.org/drawingml/2006/main" w="19050">
            <a:solidFill>
              <a:srgbClr val="C6CBD2"/>
            </a:solidFill>
            <a:prstDash val="solid"/>
          </a:ln>
        </p:spPr>
      </p:cxnSp>
      <p:sp>
        <p:nvSpPr>
          <p:cNvPr id="12" name="">
            <a:extLst xmlns:a="http://schemas.openxmlformats.org/drawingml/2006/main">
              <a:ext uri="{FF2B5EF4-FFF2-40B4-BE49-F238E27FC236}">
                <a16:creationId xmlns:a16="http://schemas.microsoft.com/office/drawing/2014/main" id="{12AC493E-6DCC-4A2B-A302-33B34710B853}"/>
              </a:ext>
            </a:extLst>
          </p:cNvPr>
          <p:cNvSpPr>
            <a:spLocks xmlns:a="http://schemas.openxmlformats.org/drawingml/2006/main" noGrp="1"/>
          </p:cNvSpPr>
          <p:nvPr/>
        </p:nvSpPr>
        <p:spPr>
          <a:xfrm xmlns:a="http://schemas.openxmlformats.org/drawingml/2006/main">
            <a:off x="7239000" y="4457700"/>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直す</a:t>
            </a:r>
          </a:p>
        </p:txBody>
      </p:sp>
      <p:sp>
        <p:nvSpPr>
          <p:cNvPr id="13" name="">
            <a:extLst xmlns:a="http://schemas.openxmlformats.org/drawingml/2006/main">
              <a:ext uri="{FF2B5EF4-FFF2-40B4-BE49-F238E27FC236}">
                <a16:creationId xmlns:a16="http://schemas.microsoft.com/office/drawing/2014/main" id="{B56AED65-0616-4BDB-9B4E-A120EC8E84DA}"/>
              </a:ext>
            </a:extLst>
          </p:cNvPr>
          <p:cNvSpPr>
            <a:spLocks xmlns:a="http://schemas.openxmlformats.org/drawingml/2006/main" noGrp="1"/>
          </p:cNvSpPr>
          <p:nvPr/>
        </p:nvSpPr>
        <p:spPr>
          <a:xfrm xmlns:a="http://schemas.openxmlformats.org/drawingml/2006/main">
            <a:off x="7239000" y="4972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AIがコードを修正する</a:t>
            </a:r>
          </a:p>
        </p:txBody>
      </p:sp>
      <p:sp>
        <p:nvSpPr>
          <p:cNvPr id="14" name="">
            <a:extLst xmlns:a="http://schemas.openxmlformats.org/drawingml/2006/main">
              <a:ext uri="{FF2B5EF4-FFF2-40B4-BE49-F238E27FC236}">
                <a16:creationId xmlns:a16="http://schemas.microsoft.com/office/drawing/2014/main" id="{D8D689AC-69AF-4EAF-B225-2573DB01E9DA}"/>
              </a:ext>
            </a:extLst>
          </p:cNvPr>
          <p:cNvSpPr>
            <a:spLocks xmlns:a="http://schemas.openxmlformats.org/drawingml/2006/main" noGrp="1"/>
          </p:cNvSpPr>
          <p:nvPr/>
        </p:nvSpPr>
        <p:spPr>
          <a:xfrm xmlns:a="http://schemas.openxmlformats.org/drawingml/2006/main">
            <a:off x="609600" y="5562600"/>
            <a:ext cx="1000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3D8DFF"/>
                </a:solidFill>
                <a:latin typeface="Yu Gothic"/>
                <a:ea typeface="Yu Gothic"/>
                <a:cs typeface="Yu Gothic"/>
              </a:defRPr>
            </a:pPr>
            <a:r>
              <a:rPr sz="2100" b="1">
                <a:solidFill>
                  <a:srgbClr val="3D8DFF"/>
                </a:solidFill>
                <a:latin typeface="Yu Gothic"/>
                <a:ea typeface="Yu Gothic"/>
                <a:cs typeface="Yu Gothic"/>
              </a:rPr>
              <a:t>コードを書くより、問題を説明し、結果を判断する。</a:t>
            </a:r>
          </a:p>
        </p:txBody>
      </p:sp>
    </p:spTree>
    <p:extLst>
      <p:ext uri="{BB962C8B-B14F-4D97-AF65-F5344CB8AC3E}">
        <p14:creationId xmlns:p14="http://schemas.microsoft.com/office/powerpoint/2010/main" val="39181593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B337358-3FF4-4679-9B8E-4C6C16CDD3B4}"/>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1｜考え方</a:t>
            </a:r>
          </a:p>
        </p:txBody>
      </p:sp>
      <p:sp>
        <p:nvSpPr>
          <p:cNvPr id="2" name="">
            <a:extLst xmlns:a="http://schemas.openxmlformats.org/drawingml/2006/main">
              <a:ext uri="{FF2B5EF4-FFF2-40B4-BE49-F238E27FC236}">
                <a16:creationId xmlns:a16="http://schemas.microsoft.com/office/drawing/2014/main" id="{3832B178-4FED-4915-9CC2-C992FC76BB52}"/>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最初にAとBを分ける</a:t>
            </a:r>
          </a:p>
        </p:txBody>
      </p:sp>
      <p:cxnSp>
        <p:nvCxnSpPr>
          <p:cNvPr id="16"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E0472551-1C7B-426B-B5A9-664FC3BE8AEC}"/>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03</a:t>
            </a:r>
          </a:p>
        </p:txBody>
      </p:sp>
      <p:sp>
        <p:nvSpPr>
          <p:cNvPr id="5" name="">
            <a:extLst xmlns:a="http://schemas.openxmlformats.org/drawingml/2006/main">
              <a:ext uri="{FF2B5EF4-FFF2-40B4-BE49-F238E27FC236}">
                <a16:creationId xmlns:a16="http://schemas.microsoft.com/office/drawing/2014/main" id="{6CC0C40D-9BD9-489A-A47E-F2224D0CB545}"/>
              </a:ext>
            </a:extLst>
          </p:cNvPr>
          <p:cNvSpPr>
            <a:spLocks xmlns:a="http://schemas.openxmlformats.org/drawingml/2006/main" noGrp="1"/>
          </p:cNvSpPr>
          <p:nvPr/>
        </p:nvSpPr>
        <p:spPr>
          <a:xfrm xmlns:a="http://schemas.openxmlformats.org/drawingml/2006/main">
            <a:off x="666750" y="1866900"/>
            <a:ext cx="1143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6300" b="1">
                <a:solidFill>
                  <a:srgbClr val="3D8DFF"/>
                </a:solidFill>
                <a:latin typeface="Yu Gothic"/>
                <a:ea typeface="Yu Gothic"/>
                <a:cs typeface="Yu Gothic"/>
              </a:defRPr>
            </a:pPr>
            <a:r>
              <a:rPr sz="6300" b="1">
                <a:solidFill>
                  <a:srgbClr val="3D8DFF"/>
                </a:solidFill>
                <a:latin typeface="Yu Gothic"/>
                <a:ea typeface="Yu Gothic"/>
                <a:cs typeface="Yu Gothic"/>
              </a:rPr>
              <a:t>A</a:t>
            </a:r>
          </a:p>
        </p:txBody>
      </p:sp>
      <p:sp>
        <p:nvSpPr>
          <p:cNvPr id="6" name="">
            <a:extLst xmlns:a="http://schemas.openxmlformats.org/drawingml/2006/main">
              <a:ext uri="{FF2B5EF4-FFF2-40B4-BE49-F238E27FC236}">
                <a16:creationId xmlns:a16="http://schemas.microsoft.com/office/drawing/2014/main" id="{9E9C867F-CA98-4393-A57A-53B86A1D0338}"/>
              </a:ext>
            </a:extLst>
          </p:cNvPr>
          <p:cNvSpPr>
            <a:spLocks xmlns:a="http://schemas.openxmlformats.org/drawingml/2006/main" noGrp="1"/>
          </p:cNvSpPr>
          <p:nvPr/>
        </p:nvSpPr>
        <p:spPr>
          <a:xfrm xmlns:a="http://schemas.openxmlformats.org/drawingml/2006/main">
            <a:off x="1752600" y="1866900"/>
            <a:ext cx="3619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AIを使って</a:t>
            </a:r>
          </a:p>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ツールを作る</a:t>
            </a:r>
          </a:p>
        </p:txBody>
      </p:sp>
      <p:sp>
        <p:nvSpPr>
          <p:cNvPr id="7" name="">
            <a:extLst xmlns:a="http://schemas.openxmlformats.org/drawingml/2006/main">
              <a:ext uri="{FF2B5EF4-FFF2-40B4-BE49-F238E27FC236}">
                <a16:creationId xmlns:a16="http://schemas.microsoft.com/office/drawing/2014/main" id="{2887F8B0-7164-4776-ABFF-E5AE7658B571}"/>
              </a:ext>
            </a:extLst>
          </p:cNvPr>
          <p:cNvSpPr>
            <a:spLocks xmlns:a="http://schemas.openxmlformats.org/drawingml/2006/main" noGrp="1"/>
          </p:cNvSpPr>
          <p:nvPr/>
        </p:nvSpPr>
        <p:spPr>
          <a:xfrm xmlns:a="http://schemas.openxmlformats.org/drawingml/2006/main">
            <a:off x="1752600" y="3105150"/>
            <a:ext cx="3905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完成後はAI不要</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静的サイトでも公開できる</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例：漢字練習、単語カード</a:t>
            </a:r>
          </a:p>
        </p:txBody>
      </p:sp>
      <p:cxnSp>
        <p:nvCxnSpPr>
          <p:cNvPr id="21" name=""/>
          <p:cNvCxnSpPr/>
          <p:nvPr/>
        </p:nvCxnSpPr>
        <p:spPr>
          <a:xfrm xmlns:a="http://schemas.openxmlformats.org/drawingml/2006/main">
            <a:off x="6096000" y="1809750"/>
            <a:ext cx="0" cy="0"/>
          </a:xfrm>
          <a:prstGeom xmlns:a="http://schemas.openxmlformats.org/drawingml/2006/main" prst="straightConnector1">
            <a:avLst/>
          </a:prstGeom>
          <a:ln xmlns:a="http://schemas.openxmlformats.org/drawingml/2006/main" w="9525">
            <a:solidFill>
              <a:srgbClr val="C6CBD2"/>
            </a:solidFill>
            <a:prstDash val="solid"/>
          </a:ln>
        </p:spPr>
      </p:cxnSp>
      <p:sp>
        <p:nvSpPr>
          <p:cNvPr id="9" name="">
            <a:extLst xmlns:a="http://schemas.openxmlformats.org/drawingml/2006/main">
              <a:ext uri="{FF2B5EF4-FFF2-40B4-BE49-F238E27FC236}">
                <a16:creationId xmlns:a16="http://schemas.microsoft.com/office/drawing/2014/main" id="{6DD19D20-AB33-4279-8E78-C39D43A4FBD8}"/>
              </a:ext>
            </a:extLst>
          </p:cNvPr>
          <p:cNvSpPr>
            <a:spLocks xmlns:a="http://schemas.openxmlformats.org/drawingml/2006/main" noGrp="1"/>
          </p:cNvSpPr>
          <p:nvPr/>
        </p:nvSpPr>
        <p:spPr>
          <a:xfrm xmlns:a="http://schemas.openxmlformats.org/drawingml/2006/main">
            <a:off x="6534150" y="1866900"/>
            <a:ext cx="1143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6300" b="1">
                <a:solidFill>
                  <a:srgbClr val="D45D5D"/>
                </a:solidFill>
                <a:latin typeface="Yu Gothic"/>
                <a:ea typeface="Yu Gothic"/>
                <a:cs typeface="Yu Gothic"/>
              </a:defRPr>
            </a:pPr>
            <a:r>
              <a:rPr sz="6300" b="1">
                <a:solidFill>
                  <a:srgbClr val="D45D5D"/>
                </a:solidFill>
                <a:latin typeface="Yu Gothic"/>
                <a:ea typeface="Yu Gothic"/>
                <a:cs typeface="Yu Gothic"/>
              </a:rPr>
              <a:t>B</a:t>
            </a:r>
          </a:p>
        </p:txBody>
      </p:sp>
      <p:sp>
        <p:nvSpPr>
          <p:cNvPr id="10" name="">
            <a:extLst xmlns:a="http://schemas.openxmlformats.org/drawingml/2006/main">
              <a:ext uri="{FF2B5EF4-FFF2-40B4-BE49-F238E27FC236}">
                <a16:creationId xmlns:a16="http://schemas.microsoft.com/office/drawing/2014/main" id="{B9C3B189-E3AD-4ADD-B6C8-8C17AB1D61B3}"/>
              </a:ext>
            </a:extLst>
          </p:cNvPr>
          <p:cNvSpPr>
            <a:spLocks xmlns:a="http://schemas.openxmlformats.org/drawingml/2006/main" noGrp="1"/>
          </p:cNvSpPr>
          <p:nvPr/>
        </p:nvSpPr>
        <p:spPr>
          <a:xfrm xmlns:a="http://schemas.openxmlformats.org/drawingml/2006/main">
            <a:off x="7620000" y="1866900"/>
            <a:ext cx="3714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ツール自体に</a:t>
            </a:r>
          </a:p>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AI機能がある</a:t>
            </a:r>
          </a:p>
        </p:txBody>
      </p:sp>
      <p:sp>
        <p:nvSpPr>
          <p:cNvPr id="11" name="">
            <a:extLst xmlns:a="http://schemas.openxmlformats.org/drawingml/2006/main">
              <a:ext uri="{FF2B5EF4-FFF2-40B4-BE49-F238E27FC236}">
                <a16:creationId xmlns:a16="http://schemas.microsoft.com/office/drawing/2014/main" id="{3F208DE1-92E2-41D0-A862-D4429B5F8251}"/>
              </a:ext>
            </a:extLst>
          </p:cNvPr>
          <p:cNvSpPr>
            <a:spLocks xmlns:a="http://schemas.openxmlformats.org/drawingml/2006/main" noGrp="1"/>
          </p:cNvSpPr>
          <p:nvPr/>
        </p:nvSpPr>
        <p:spPr>
          <a:xfrm xmlns:a="http://schemas.openxmlformats.org/drawingml/2006/main">
            <a:off x="7620000" y="3105150"/>
            <a:ext cx="3905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利用のたびにAIを呼ぶ</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後端・運営・品質管理が必要</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例：AI会話、作文添削</a:t>
            </a:r>
          </a:p>
        </p:txBody>
      </p:sp>
      <p:sp>
        <p:nvSpPr>
          <p:cNvPr id="12" name="">
            <a:extLst xmlns:a="http://schemas.openxmlformats.org/drawingml/2006/main">
              <a:ext uri="{FF2B5EF4-FFF2-40B4-BE49-F238E27FC236}">
                <a16:creationId xmlns:a16="http://schemas.microsoft.com/office/drawing/2014/main" id="{4C71A124-51D3-49DC-9E2A-958C0C73E45B}"/>
              </a:ext>
            </a:extLst>
          </p:cNvPr>
          <p:cNvSpPr>
            <a:spLocks xmlns:a="http://schemas.openxmlformats.org/drawingml/2006/main" noGrp="1"/>
          </p:cNvSpPr>
          <p:nvPr/>
        </p:nvSpPr>
        <p:spPr>
          <a:xfrm xmlns:a="http://schemas.openxmlformats.org/drawingml/2006/main">
            <a:off x="609600" y="5048250"/>
            <a:ext cx="10972800" cy="876300"/>
          </a:xfrm>
          <a:prstGeom xmlns:a="http://schemas.openxmlformats.org/drawingml/2006/main" prst="roundRect">
            <a:avLst>
              <a:gd name="adj" fmla="val 8696"/>
            </a:avLst>
          </a:prstGeom>
          <a:solidFill xmlns:a="http://schemas.openxmlformats.org/drawingml/2006/main">
            <a:srgbClr val="F1F3F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BAFB006-6A91-4FAB-B397-4F1FC1369A25}"/>
              </a:ext>
            </a:extLst>
          </p:cNvPr>
          <p:cNvSpPr>
            <a:spLocks xmlns:a="http://schemas.openxmlformats.org/drawingml/2006/main" noGrp="1"/>
          </p:cNvSpPr>
          <p:nvPr/>
        </p:nvSpPr>
        <p:spPr>
          <a:xfrm xmlns:a="http://schemas.openxmlformats.org/drawingml/2006/main">
            <a:off x="876300" y="5276850"/>
            <a:ext cx="1043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100" b="1">
                <a:solidFill>
                  <a:srgbClr val="111111"/>
                </a:solidFill>
                <a:latin typeface="Yu Gothic"/>
                <a:ea typeface="Yu Gothic"/>
                <a:cs typeface="Yu Gothic"/>
              </a:defRPr>
            </a:pPr>
            <a:r>
              <a:rPr sz="2100" b="1">
                <a:solidFill>
                  <a:srgbClr val="111111"/>
                </a:solidFill>
                <a:latin typeface="Yu Gothic"/>
                <a:ea typeface="Yu Gothic"/>
                <a:cs typeface="Yu Gothic"/>
              </a:rPr>
              <a:t>同じ「AIで作る」でも、開発難易度と運営コストは大きく違う。</a:t>
            </a:r>
          </a:p>
        </p:txBody>
      </p:sp>
    </p:spTree>
    <p:extLst>
      <p:ext uri="{BB962C8B-B14F-4D97-AF65-F5344CB8AC3E}">
        <p14:creationId xmlns:p14="http://schemas.microsoft.com/office/powerpoint/2010/main" val="20846871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8A84556-A25F-431A-A0AA-FE4BB110C2BB}"/>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1｜考え方</a:t>
            </a:r>
          </a:p>
        </p:txBody>
      </p:sp>
      <p:sp>
        <p:nvSpPr>
          <p:cNvPr id="2" name="">
            <a:extLst xmlns:a="http://schemas.openxmlformats.org/drawingml/2006/main">
              <a:ext uri="{FF2B5EF4-FFF2-40B4-BE49-F238E27FC236}">
                <a16:creationId xmlns:a16="http://schemas.microsoft.com/office/drawing/2014/main" id="{BC03534B-7487-4E2A-BFF0-745816948429}"/>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AI機能は、使われるほど費用も増える</a:t>
            </a:r>
          </a:p>
        </p:txBody>
      </p:sp>
      <p:cxnSp>
        <p:nvCxnSpPr>
          <p:cNvPr id="16"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BF12E5BE-D85A-47FF-8D4E-2B4AFFDF61C8}"/>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04</a:t>
            </a:r>
          </a:p>
        </p:txBody>
      </p:sp>
      <p:sp>
        <p:nvSpPr>
          <p:cNvPr id="5" name="">
            <a:extLst xmlns:a="http://schemas.openxmlformats.org/drawingml/2006/main">
              <a:ext uri="{FF2B5EF4-FFF2-40B4-BE49-F238E27FC236}">
                <a16:creationId xmlns:a16="http://schemas.microsoft.com/office/drawing/2014/main" id="{CA9A3DE5-DD11-4A77-B8C4-5F3E596AC1D7}"/>
              </a:ext>
            </a:extLst>
          </p:cNvPr>
          <p:cNvSpPr>
            <a:spLocks xmlns:a="http://schemas.openxmlformats.org/drawingml/2006/main" noGrp="1"/>
          </p:cNvSpPr>
          <p:nvPr/>
        </p:nvSpPr>
        <p:spPr>
          <a:xfrm xmlns:a="http://schemas.openxmlformats.org/drawingml/2006/main">
            <a:off x="609600" y="1847850"/>
            <a:ext cx="4953000" cy="3333750"/>
          </a:xfrm>
          <a:prstGeom xmlns:a="http://schemas.openxmlformats.org/drawingml/2006/main" prst="roundRect">
            <a:avLst>
              <a:gd name="adj" fmla="val 2857"/>
            </a:avLst>
          </a:prstGeom>
          <a:solidFill xmlns:a="http://schemas.openxmlformats.org/drawingml/2006/main">
            <a:srgbClr val="EAF6FC"/>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19435C1-E878-42AA-A743-B4F9B99508DC}"/>
              </a:ext>
            </a:extLst>
          </p:cNvPr>
          <p:cNvSpPr>
            <a:spLocks xmlns:a="http://schemas.openxmlformats.org/drawingml/2006/main" noGrp="1"/>
          </p:cNvSpPr>
          <p:nvPr/>
        </p:nvSpPr>
        <p:spPr>
          <a:xfrm xmlns:a="http://schemas.openxmlformats.org/drawingml/2006/main">
            <a:off x="914400" y="215265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一般的な静的ツール</a:t>
            </a:r>
          </a:p>
        </p:txBody>
      </p:sp>
      <p:sp>
        <p:nvSpPr>
          <p:cNvPr id="7" name="">
            <a:extLst xmlns:a="http://schemas.openxmlformats.org/drawingml/2006/main">
              <a:ext uri="{FF2B5EF4-FFF2-40B4-BE49-F238E27FC236}">
                <a16:creationId xmlns:a16="http://schemas.microsoft.com/office/drawing/2014/main" id="{7016F4B1-8B47-4B75-85E6-7A1F165C5A7B}"/>
              </a:ext>
            </a:extLst>
          </p:cNvPr>
          <p:cNvSpPr>
            <a:spLocks xmlns:a="http://schemas.openxmlformats.org/drawingml/2006/main" noGrp="1"/>
          </p:cNvSpPr>
          <p:nvPr/>
        </p:nvSpPr>
        <p:spPr>
          <a:xfrm xmlns:a="http://schemas.openxmlformats.org/drawingml/2006/main">
            <a:off x="914400" y="2971800"/>
            <a:ext cx="1714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3D8DFF"/>
                </a:solidFill>
                <a:latin typeface="Yu Gothic"/>
                <a:ea typeface="Yu Gothic"/>
                <a:cs typeface="Yu Gothic"/>
              </a:defRPr>
            </a:pPr>
            <a:r>
              <a:rPr sz="3150" b="1">
                <a:solidFill>
                  <a:srgbClr val="3D8DFF"/>
                </a:solidFill>
                <a:latin typeface="Yu Gothic"/>
                <a:ea typeface="Yu Gothic"/>
                <a:cs typeface="Yu Gothic"/>
              </a:rPr>
              <a:t>開発後</a:t>
            </a:r>
          </a:p>
        </p:txBody>
      </p:sp>
      <p:sp>
        <p:nvSpPr>
          <p:cNvPr id="8" name="">
            <a:extLst xmlns:a="http://schemas.openxmlformats.org/drawingml/2006/main">
              <a:ext uri="{FF2B5EF4-FFF2-40B4-BE49-F238E27FC236}">
                <a16:creationId xmlns:a16="http://schemas.microsoft.com/office/drawing/2014/main" id="{5F75A387-0C07-4CBB-ADEE-E2D45B6ED275}"/>
              </a:ext>
            </a:extLst>
          </p:cNvPr>
          <p:cNvSpPr>
            <a:spLocks xmlns:a="http://schemas.openxmlformats.org/drawingml/2006/main" noGrp="1"/>
          </p:cNvSpPr>
          <p:nvPr/>
        </p:nvSpPr>
        <p:spPr>
          <a:xfrm xmlns:a="http://schemas.openxmlformats.org/drawingml/2006/main">
            <a:off x="914400" y="3676650"/>
            <a:ext cx="4000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0">
                <a:solidFill>
                  <a:srgbClr val="111111"/>
                </a:solidFill>
                <a:latin typeface="Yu Gothic"/>
                <a:ea typeface="Yu Gothic"/>
                <a:cs typeface="Yu Gothic"/>
              </a:defRPr>
            </a:pPr>
            <a:r>
              <a:rPr sz="1950" b="0">
                <a:solidFill>
                  <a:srgbClr val="111111"/>
                </a:solidFill>
                <a:latin typeface="Yu Gothic"/>
                <a:ea typeface="Yu Gothic"/>
                <a:cs typeface="Yu Gothic"/>
              </a:rPr>
              <a:t>利用者が増えても</a:t>
            </a:r>
          </a:p>
          <a:p xmlns:a="http://schemas.openxmlformats.org/drawingml/2006/main">
            <a:pPr algn="l">
              <a:defRPr sz="1950" b="0">
                <a:solidFill>
                  <a:srgbClr val="111111"/>
                </a:solidFill>
                <a:latin typeface="Yu Gothic"/>
                <a:ea typeface="Yu Gothic"/>
                <a:cs typeface="Yu Gothic"/>
              </a:defRPr>
            </a:pPr>
            <a:r>
              <a:rPr sz="1950" b="0">
                <a:solidFill>
                  <a:srgbClr val="111111"/>
                </a:solidFill>
                <a:latin typeface="Yu Gothic"/>
                <a:ea typeface="Yu Gothic"/>
                <a:cs typeface="Yu Gothic"/>
              </a:rPr>
              <a:t>追加コストは比較的小さい</a:t>
            </a:r>
          </a:p>
        </p:txBody>
      </p:sp>
      <p:sp>
        <p:nvSpPr>
          <p:cNvPr id="9" name="">
            <a:extLst xmlns:a="http://schemas.openxmlformats.org/drawingml/2006/main">
              <a:ext uri="{FF2B5EF4-FFF2-40B4-BE49-F238E27FC236}">
                <a16:creationId xmlns:a16="http://schemas.microsoft.com/office/drawing/2014/main" id="{86B106A0-3143-46A5-A619-F6A74D0BEE89}"/>
              </a:ext>
            </a:extLst>
          </p:cNvPr>
          <p:cNvSpPr>
            <a:spLocks xmlns:a="http://schemas.openxmlformats.org/drawingml/2006/main" noGrp="1"/>
          </p:cNvSpPr>
          <p:nvPr/>
        </p:nvSpPr>
        <p:spPr>
          <a:xfrm xmlns:a="http://schemas.openxmlformats.org/drawingml/2006/main">
            <a:off x="6172200" y="1847850"/>
            <a:ext cx="5410200" cy="3333750"/>
          </a:xfrm>
          <a:prstGeom xmlns:a="http://schemas.openxmlformats.org/drawingml/2006/main" prst="roundRect">
            <a:avLst>
              <a:gd name="adj" fmla="val 2857"/>
            </a:avLst>
          </a:prstGeom>
          <a:solidFill xmlns:a="http://schemas.openxmlformats.org/drawingml/2006/main">
            <a:srgbClr val="FFF2D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E00753-A167-458F-AD86-8B795A4B3AEE}"/>
              </a:ext>
            </a:extLst>
          </p:cNvPr>
          <p:cNvSpPr>
            <a:spLocks xmlns:a="http://schemas.openxmlformats.org/drawingml/2006/main" noGrp="1"/>
          </p:cNvSpPr>
          <p:nvPr/>
        </p:nvSpPr>
        <p:spPr>
          <a:xfrm xmlns:a="http://schemas.openxmlformats.org/drawingml/2006/main">
            <a:off x="6477000" y="2152650"/>
            <a:ext cx="457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AIを内蔵したサービス</a:t>
            </a:r>
          </a:p>
        </p:txBody>
      </p:sp>
      <p:sp>
        <p:nvSpPr>
          <p:cNvPr id="11" name="">
            <a:extLst xmlns:a="http://schemas.openxmlformats.org/drawingml/2006/main">
              <a:ext uri="{FF2B5EF4-FFF2-40B4-BE49-F238E27FC236}">
                <a16:creationId xmlns:a16="http://schemas.microsoft.com/office/drawing/2014/main" id="{C25A26CA-8199-4756-A582-7FF20B2632CB}"/>
              </a:ext>
            </a:extLst>
          </p:cNvPr>
          <p:cNvSpPr>
            <a:spLocks xmlns:a="http://schemas.openxmlformats.org/drawingml/2006/main" noGrp="1"/>
          </p:cNvSpPr>
          <p:nvPr/>
        </p:nvSpPr>
        <p:spPr>
          <a:xfrm xmlns:a="http://schemas.openxmlformats.org/drawingml/2006/main">
            <a:off x="6477000" y="29718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D45D5D"/>
                </a:solidFill>
                <a:latin typeface="Yu Gothic"/>
                <a:ea typeface="Yu Gothic"/>
                <a:cs typeface="Yu Gothic"/>
              </a:defRPr>
            </a:pPr>
            <a:r>
              <a:rPr sz="3150" b="1">
                <a:solidFill>
                  <a:srgbClr val="D45D5D"/>
                </a:solidFill>
                <a:latin typeface="Yu Gothic"/>
                <a:ea typeface="Yu Gothic"/>
                <a:cs typeface="Yu Gothic"/>
              </a:rPr>
              <a:t>利用ごと</a:t>
            </a:r>
          </a:p>
        </p:txBody>
      </p:sp>
      <p:sp>
        <p:nvSpPr>
          <p:cNvPr id="12" name="">
            <a:extLst xmlns:a="http://schemas.openxmlformats.org/drawingml/2006/main">
              <a:ext uri="{FF2B5EF4-FFF2-40B4-BE49-F238E27FC236}">
                <a16:creationId xmlns:a16="http://schemas.microsoft.com/office/drawing/2014/main" id="{31EA23CA-F6CB-4DB7-B76A-088E76746F15}"/>
              </a:ext>
            </a:extLst>
          </p:cNvPr>
          <p:cNvSpPr>
            <a:spLocks xmlns:a="http://schemas.openxmlformats.org/drawingml/2006/main" noGrp="1"/>
          </p:cNvSpPr>
          <p:nvPr/>
        </p:nvSpPr>
        <p:spPr>
          <a:xfrm xmlns:a="http://schemas.openxmlformats.org/drawingml/2006/main">
            <a:off x="6477000" y="3676650"/>
            <a:ext cx="409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0">
                <a:solidFill>
                  <a:srgbClr val="111111"/>
                </a:solidFill>
                <a:latin typeface="Yu Gothic"/>
                <a:ea typeface="Yu Gothic"/>
                <a:cs typeface="Yu Gothic"/>
              </a:defRPr>
            </a:pPr>
            <a:r>
              <a:rPr sz="1950" b="0">
                <a:solidFill>
                  <a:srgbClr val="111111"/>
                </a:solidFill>
                <a:latin typeface="Yu Gothic"/>
                <a:ea typeface="Yu Gothic"/>
                <a:cs typeface="Yu Gothic"/>
              </a:rPr>
              <a:t>Token・音声・APIの</a:t>
            </a:r>
          </a:p>
          <a:p xmlns:a="http://schemas.openxmlformats.org/drawingml/2006/main">
            <a:pPr algn="l">
              <a:defRPr sz="1950" b="0">
                <a:solidFill>
                  <a:srgbClr val="111111"/>
                </a:solidFill>
                <a:latin typeface="Yu Gothic"/>
                <a:ea typeface="Yu Gothic"/>
                <a:cs typeface="Yu Gothic"/>
              </a:defRPr>
            </a:pPr>
            <a:r>
              <a:rPr sz="1950" b="0">
                <a:solidFill>
                  <a:srgbClr val="111111"/>
                </a:solidFill>
                <a:latin typeface="Yu Gothic"/>
                <a:ea typeface="Yu Gothic"/>
                <a:cs typeface="Yu Gothic"/>
              </a:rPr>
              <a:t>コストが積み上がる</a:t>
            </a:r>
          </a:p>
        </p:txBody>
      </p:sp>
      <p:sp>
        <p:nvSpPr>
          <p:cNvPr id="13" name="">
            <a:extLst xmlns:a="http://schemas.openxmlformats.org/drawingml/2006/main">
              <a:ext uri="{FF2B5EF4-FFF2-40B4-BE49-F238E27FC236}">
                <a16:creationId xmlns:a16="http://schemas.microsoft.com/office/drawing/2014/main" id="{C085BF93-8CEF-49F1-851A-4A1283FD372E}"/>
              </a:ext>
            </a:extLst>
          </p:cNvPr>
          <p:cNvSpPr>
            <a:spLocks xmlns:a="http://schemas.openxmlformats.org/drawingml/2006/main" noGrp="1"/>
          </p:cNvSpPr>
          <p:nvPr/>
        </p:nvSpPr>
        <p:spPr>
          <a:xfrm xmlns:a="http://schemas.openxmlformats.org/drawingml/2006/main">
            <a:off x="609600" y="5524500"/>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人気が出るほど赤字になる設計もある。</a:t>
            </a:r>
          </a:p>
        </p:txBody>
      </p:sp>
    </p:spTree>
    <p:extLst>
      <p:ext uri="{BB962C8B-B14F-4D97-AF65-F5344CB8AC3E}">
        <p14:creationId xmlns:p14="http://schemas.microsoft.com/office/powerpoint/2010/main" val="11957942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7A47BC-E1C5-49EE-9D20-FA40AC385E6B}"/>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1｜考え方</a:t>
            </a:r>
          </a:p>
        </p:txBody>
      </p:sp>
      <p:sp>
        <p:nvSpPr>
          <p:cNvPr id="2" name="">
            <a:extLst xmlns:a="http://schemas.openxmlformats.org/drawingml/2006/main">
              <a:ext uri="{FF2B5EF4-FFF2-40B4-BE49-F238E27FC236}">
                <a16:creationId xmlns:a16="http://schemas.microsoft.com/office/drawing/2014/main" id="{9ADAFE13-01F5-4A55-90F6-CD7353B2BBA6}"/>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まずはCanvasで「使えるか」を試す</a:t>
            </a:r>
          </a:p>
        </p:txBody>
      </p:sp>
      <p:cxnSp>
        <p:nvCxnSpPr>
          <p:cNvPr id="18"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D5BF6BD2-24E2-4F31-A8F3-7B3B088F7592}"/>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05</a:t>
            </a:r>
          </a:p>
        </p:txBody>
      </p:sp>
      <p:sp>
        <p:nvSpPr>
          <p:cNvPr id="5" name="">
            <a:extLst xmlns:a="http://schemas.openxmlformats.org/drawingml/2006/main">
              <a:ext uri="{FF2B5EF4-FFF2-40B4-BE49-F238E27FC236}">
                <a16:creationId xmlns:a16="http://schemas.microsoft.com/office/drawing/2014/main" id="{C73377EA-C4E5-4D93-BDD5-4971DBB4696A}"/>
              </a:ext>
            </a:extLst>
          </p:cNvPr>
          <p:cNvSpPr>
            <a:spLocks xmlns:a="http://schemas.openxmlformats.org/drawingml/2006/main" noGrp="1"/>
          </p:cNvSpPr>
          <p:nvPr/>
        </p:nvSpPr>
        <p:spPr>
          <a:xfrm xmlns:a="http://schemas.openxmlformats.org/drawingml/2006/main">
            <a:off x="685800" y="207645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1  アイデアを伝える</a:t>
            </a:r>
          </a:p>
        </p:txBody>
      </p:sp>
      <p:cxnSp>
        <p:nvCxnSpPr>
          <p:cNvPr id="21" name=""/>
          <p:cNvCxnSpPr/>
          <p:nvPr/>
        </p:nvCxnSpPr>
        <p:spPr>
          <a:xfrm xmlns:a="http://schemas.openxmlformats.org/drawingml/2006/main">
            <a:off x="685800" y="2781300"/>
            <a:ext cx="2857500" cy="0"/>
          </a:xfrm>
          <a:prstGeom xmlns:a="http://schemas.openxmlformats.org/drawingml/2006/main" prst="straightConnector1">
            <a:avLst/>
          </a:prstGeom>
          <a:ln xmlns:a="http://schemas.openxmlformats.org/drawingml/2006/main" w="19050">
            <a:solidFill>
              <a:srgbClr val="C6CBD2"/>
            </a:solidFill>
            <a:prstDash val="solid"/>
          </a:ln>
        </p:spPr>
      </p:cxnSp>
      <p:sp>
        <p:nvSpPr>
          <p:cNvPr id="7" name="">
            <a:extLst xmlns:a="http://schemas.openxmlformats.org/drawingml/2006/main">
              <a:ext uri="{FF2B5EF4-FFF2-40B4-BE49-F238E27FC236}">
                <a16:creationId xmlns:a16="http://schemas.microsoft.com/office/drawing/2014/main" id="{23C4896F-EF40-4D83-ABD4-A05BC5D9BA38}"/>
              </a:ext>
            </a:extLst>
          </p:cNvPr>
          <p:cNvSpPr>
            <a:spLocks xmlns:a="http://schemas.openxmlformats.org/drawingml/2006/main" noGrp="1"/>
          </p:cNvSpPr>
          <p:nvPr/>
        </p:nvSpPr>
        <p:spPr>
          <a:xfrm xmlns:a="http://schemas.openxmlformats.org/drawingml/2006/main">
            <a:off x="685800" y="3086100"/>
            <a:ext cx="304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問題形式・対象レベル・</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使う場面を説明</a:t>
            </a:r>
          </a:p>
        </p:txBody>
      </p:sp>
      <p:sp>
        <p:nvSpPr>
          <p:cNvPr id="8" name="">
            <a:extLst xmlns:a="http://schemas.openxmlformats.org/drawingml/2006/main">
              <a:ext uri="{FF2B5EF4-FFF2-40B4-BE49-F238E27FC236}">
                <a16:creationId xmlns:a16="http://schemas.microsoft.com/office/drawing/2014/main" id="{300F4DC7-1015-411A-B413-3A725BFB8323}"/>
              </a:ext>
            </a:extLst>
          </p:cNvPr>
          <p:cNvSpPr>
            <a:spLocks xmlns:a="http://schemas.openxmlformats.org/drawingml/2006/main" noGrp="1"/>
          </p:cNvSpPr>
          <p:nvPr/>
        </p:nvSpPr>
        <p:spPr>
          <a:xfrm xmlns:a="http://schemas.openxmlformats.org/drawingml/2006/main">
            <a:off x="4229100" y="207645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2  その場で試す</a:t>
            </a:r>
          </a:p>
        </p:txBody>
      </p:sp>
      <p:cxnSp>
        <p:nvCxnSpPr>
          <p:cNvPr id="24" name=""/>
          <p:cNvCxnSpPr/>
          <p:nvPr/>
        </p:nvCxnSpPr>
        <p:spPr>
          <a:xfrm xmlns:a="http://schemas.openxmlformats.org/drawingml/2006/main">
            <a:off x="4229100" y="2781300"/>
            <a:ext cx="2857500" cy="0"/>
          </a:xfrm>
          <a:prstGeom xmlns:a="http://schemas.openxmlformats.org/drawingml/2006/main" prst="straightConnector1">
            <a:avLst/>
          </a:prstGeom>
          <a:ln xmlns:a="http://schemas.openxmlformats.org/drawingml/2006/main" w="38100">
            <a:solidFill>
              <a:srgbClr val="3D8DFF"/>
            </a:solidFill>
            <a:prstDash val="solid"/>
          </a:ln>
        </p:spPr>
      </p:cxnSp>
      <p:sp>
        <p:nvSpPr>
          <p:cNvPr id="10" name="">
            <a:extLst xmlns:a="http://schemas.openxmlformats.org/drawingml/2006/main">
              <a:ext uri="{FF2B5EF4-FFF2-40B4-BE49-F238E27FC236}">
                <a16:creationId xmlns:a16="http://schemas.microsoft.com/office/drawing/2014/main" id="{D7852FEA-0F4A-45B9-A6FE-34D670E611D2}"/>
              </a:ext>
            </a:extLst>
          </p:cNvPr>
          <p:cNvSpPr>
            <a:spLocks xmlns:a="http://schemas.openxmlformats.org/drawingml/2006/main" noGrp="1"/>
          </p:cNvSpPr>
          <p:nvPr/>
        </p:nvSpPr>
        <p:spPr>
          <a:xfrm xmlns:a="http://schemas.openxmlformats.org/drawingml/2006/main">
            <a:off x="4229100" y="3086100"/>
            <a:ext cx="304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WebページやTTSを</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すぐプレビュー</a:t>
            </a:r>
          </a:p>
        </p:txBody>
      </p:sp>
      <p:sp>
        <p:nvSpPr>
          <p:cNvPr id="11" name="">
            <a:extLst xmlns:a="http://schemas.openxmlformats.org/drawingml/2006/main">
              <a:ext uri="{FF2B5EF4-FFF2-40B4-BE49-F238E27FC236}">
                <a16:creationId xmlns:a16="http://schemas.microsoft.com/office/drawing/2014/main" id="{784ED6B9-996F-4BA1-8CCB-653B64E4B91A}"/>
              </a:ext>
            </a:extLst>
          </p:cNvPr>
          <p:cNvSpPr>
            <a:spLocks xmlns:a="http://schemas.openxmlformats.org/drawingml/2006/main" noGrp="1"/>
          </p:cNvSpPr>
          <p:nvPr/>
        </p:nvSpPr>
        <p:spPr>
          <a:xfrm xmlns:a="http://schemas.openxmlformats.org/drawingml/2006/main">
            <a:off x="7772400" y="207645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3  会話で直す</a:t>
            </a:r>
          </a:p>
        </p:txBody>
      </p:sp>
      <p:cxnSp>
        <p:nvCxnSpPr>
          <p:cNvPr id="27" name=""/>
          <p:cNvCxnSpPr/>
          <p:nvPr/>
        </p:nvCxnSpPr>
        <p:spPr>
          <a:xfrm xmlns:a="http://schemas.openxmlformats.org/drawingml/2006/main">
            <a:off x="7772400" y="2781300"/>
            <a:ext cx="2857500" cy="0"/>
          </a:xfrm>
          <a:prstGeom xmlns:a="http://schemas.openxmlformats.org/drawingml/2006/main" prst="straightConnector1">
            <a:avLst/>
          </a:prstGeom>
          <a:ln xmlns:a="http://schemas.openxmlformats.org/drawingml/2006/main" w="19050">
            <a:solidFill>
              <a:srgbClr val="C6CBD2"/>
            </a:solidFill>
            <a:prstDash val="solid"/>
          </a:ln>
        </p:spPr>
      </p:cxnSp>
      <p:sp>
        <p:nvSpPr>
          <p:cNvPr id="13" name="">
            <a:extLst xmlns:a="http://schemas.openxmlformats.org/drawingml/2006/main">
              <a:ext uri="{FF2B5EF4-FFF2-40B4-BE49-F238E27FC236}">
                <a16:creationId xmlns:a16="http://schemas.microsoft.com/office/drawing/2014/main" id="{158388B3-1E88-420B-B83D-C8A7F9BCE05E}"/>
              </a:ext>
            </a:extLst>
          </p:cNvPr>
          <p:cNvSpPr>
            <a:spLocks xmlns:a="http://schemas.openxmlformats.org/drawingml/2006/main" noGrp="1"/>
          </p:cNvSpPr>
          <p:nvPr/>
        </p:nvSpPr>
        <p:spPr>
          <a:xfrm xmlns:a="http://schemas.openxmlformats.org/drawingml/2006/main">
            <a:off x="7772400" y="3086100"/>
            <a:ext cx="304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学生の反応を想像し、</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必要な部分だけ修正</a:t>
            </a:r>
          </a:p>
        </p:txBody>
      </p:sp>
      <p:sp>
        <p:nvSpPr>
          <p:cNvPr id="14" name="">
            <a:extLst xmlns:a="http://schemas.openxmlformats.org/drawingml/2006/main">
              <a:ext uri="{FF2B5EF4-FFF2-40B4-BE49-F238E27FC236}">
                <a16:creationId xmlns:a16="http://schemas.microsoft.com/office/drawing/2014/main" id="{B596E0EA-63F9-4F99-B3D6-A346944EE848}"/>
              </a:ext>
            </a:extLst>
          </p:cNvPr>
          <p:cNvSpPr>
            <a:spLocks xmlns:a="http://schemas.openxmlformats.org/drawingml/2006/main" noGrp="1"/>
          </p:cNvSpPr>
          <p:nvPr/>
        </p:nvSpPr>
        <p:spPr>
          <a:xfrm xmlns:a="http://schemas.openxmlformats.org/drawingml/2006/main">
            <a:off x="685800" y="476250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111111"/>
                </a:solidFill>
                <a:latin typeface="Yu Gothic"/>
                <a:ea typeface="Yu Gothic"/>
                <a:cs typeface="Yu Gothic"/>
              </a:defRPr>
            </a:pPr>
            <a:r>
              <a:rPr sz="2400" b="1">
                <a:solidFill>
                  <a:srgbClr val="111111"/>
                </a:solidFill>
                <a:latin typeface="Yu Gothic"/>
                <a:ea typeface="Yu Gothic"/>
                <a:cs typeface="Yu Gothic"/>
              </a:rPr>
              <a:t>N1聴解テスト　／　日本語会話練習</a:t>
            </a:r>
          </a:p>
        </p:txBody>
      </p:sp>
      <p:sp>
        <p:nvSpPr>
          <p:cNvPr id="15" name="">
            <a:extLst xmlns:a="http://schemas.openxmlformats.org/drawingml/2006/main">
              <a:ext uri="{FF2B5EF4-FFF2-40B4-BE49-F238E27FC236}">
                <a16:creationId xmlns:a16="http://schemas.microsoft.com/office/drawing/2014/main" id="{021B98FA-A1DD-4718-BD25-E327EBA1E6D1}"/>
              </a:ext>
            </a:extLst>
          </p:cNvPr>
          <p:cNvSpPr>
            <a:spLocks xmlns:a="http://schemas.openxmlformats.org/drawingml/2006/main" noGrp="1"/>
          </p:cNvSpPr>
          <p:nvPr/>
        </p:nvSpPr>
        <p:spPr>
          <a:xfrm xmlns:a="http://schemas.openxmlformats.org/drawingml/2006/main">
            <a:off x="685800" y="5391150"/>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D45D5D"/>
                </a:solidFill>
                <a:latin typeface="Yu Gothic"/>
                <a:ea typeface="Yu Gothic"/>
                <a:cs typeface="Yu Gothic"/>
              </a:defRPr>
            </a:pPr>
            <a:r>
              <a:rPr sz="1800" b="0">
                <a:solidFill>
                  <a:srgbClr val="D45D5D"/>
                </a:solidFill>
                <a:latin typeface="Yu Gothic"/>
                <a:ea typeface="Yu Gothic"/>
                <a:cs typeface="Yu Gothic"/>
              </a:rPr>
              <a:t>Prototypeは正式サービスではない。利用枠・データ・権限は別に確認する。</a:t>
            </a:r>
          </a:p>
        </p:txBody>
      </p:sp>
    </p:spTree>
    <p:extLst>
      <p:ext uri="{BB962C8B-B14F-4D97-AF65-F5344CB8AC3E}">
        <p14:creationId xmlns:p14="http://schemas.microsoft.com/office/powerpoint/2010/main" val="949157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2179293-395C-458C-8395-A2E53C92C236}"/>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2｜技術を理解する</a:t>
            </a:r>
          </a:p>
        </p:txBody>
      </p:sp>
      <p:sp>
        <p:nvSpPr>
          <p:cNvPr id="2" name="">
            <a:extLst xmlns:a="http://schemas.openxmlformats.org/drawingml/2006/main">
              <a:ext uri="{FF2B5EF4-FFF2-40B4-BE49-F238E27FC236}">
                <a16:creationId xmlns:a16="http://schemas.microsoft.com/office/drawing/2014/main" id="{8604B742-6A0D-4F17-8D0B-4C3ECAEAD267}"/>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サーバーの話は、レストランで考える</a:t>
            </a:r>
          </a:p>
        </p:txBody>
      </p:sp>
      <p:cxnSp>
        <p:nvCxnSpPr>
          <p:cNvPr id="24"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8F1A4D57-25BA-4D49-B3CD-9FD942880144}"/>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06</a:t>
            </a:r>
          </a:p>
        </p:txBody>
      </p:sp>
      <p:sp>
        <p:nvSpPr>
          <p:cNvPr id="5" name="">
            <a:extLst xmlns:a="http://schemas.openxmlformats.org/drawingml/2006/main">
              <a:ext uri="{FF2B5EF4-FFF2-40B4-BE49-F238E27FC236}">
                <a16:creationId xmlns:a16="http://schemas.microsoft.com/office/drawing/2014/main" id="{D848AD52-185C-489A-B366-17143F147A5F}"/>
              </a:ext>
            </a:extLst>
          </p:cNvPr>
          <p:cNvSpPr>
            <a:spLocks xmlns:a="http://schemas.openxmlformats.org/drawingml/2006/main" noGrp="1"/>
          </p:cNvSpPr>
          <p:nvPr/>
        </p:nvSpPr>
        <p:spPr>
          <a:xfrm xmlns:a="http://schemas.openxmlformats.org/drawingml/2006/main">
            <a:off x="685800" y="18097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フロントエンド</a:t>
            </a:r>
          </a:p>
        </p:txBody>
      </p:sp>
      <p:sp>
        <p:nvSpPr>
          <p:cNvPr id="6" name="">
            <a:extLst xmlns:a="http://schemas.openxmlformats.org/drawingml/2006/main">
              <a:ext uri="{FF2B5EF4-FFF2-40B4-BE49-F238E27FC236}">
                <a16:creationId xmlns:a16="http://schemas.microsoft.com/office/drawing/2014/main" id="{F47CB2A5-85BC-48F8-AF15-E240FE0F9607}"/>
              </a:ext>
            </a:extLst>
          </p:cNvPr>
          <p:cNvSpPr>
            <a:spLocks xmlns:a="http://schemas.openxmlformats.org/drawingml/2006/main" noGrp="1"/>
          </p:cNvSpPr>
          <p:nvPr/>
        </p:nvSpPr>
        <p:spPr>
          <a:xfrm xmlns:a="http://schemas.openxmlformats.org/drawingml/2006/main">
            <a:off x="3848100" y="18097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11111"/>
                </a:solidFill>
                <a:latin typeface="Yu Gothic"/>
                <a:ea typeface="Yu Gothic"/>
                <a:cs typeface="Yu Gothic"/>
              </a:defRPr>
            </a:pPr>
            <a:r>
              <a:rPr sz="1950" b="1">
                <a:solidFill>
                  <a:srgbClr val="111111"/>
                </a:solidFill>
                <a:latin typeface="Yu Gothic"/>
                <a:ea typeface="Yu Gothic"/>
                <a:cs typeface="Yu Gothic"/>
              </a:rPr>
              <a:t>内装とメニュー</a:t>
            </a:r>
          </a:p>
        </p:txBody>
      </p:sp>
      <p:sp>
        <p:nvSpPr>
          <p:cNvPr id="7" name="">
            <a:extLst xmlns:a="http://schemas.openxmlformats.org/drawingml/2006/main">
              <a:ext uri="{FF2B5EF4-FFF2-40B4-BE49-F238E27FC236}">
                <a16:creationId xmlns:a16="http://schemas.microsoft.com/office/drawing/2014/main" id="{05D583E2-6EAB-43C7-8341-E9EF65A91844}"/>
              </a:ext>
            </a:extLst>
          </p:cNvPr>
          <p:cNvSpPr>
            <a:spLocks xmlns:a="http://schemas.openxmlformats.org/drawingml/2006/main" noGrp="1"/>
          </p:cNvSpPr>
          <p:nvPr/>
        </p:nvSpPr>
        <p:spPr>
          <a:xfrm xmlns:a="http://schemas.openxmlformats.org/drawingml/2006/main">
            <a:off x="6591300" y="18097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学生が見て操作する画面</a:t>
            </a:r>
          </a:p>
        </p:txBody>
      </p:sp>
      <p:cxnSp>
        <p:nvCxnSpPr>
          <p:cNvPr id="29" name=""/>
          <p:cNvCxnSpPr/>
          <p:nvPr/>
        </p:nvCxnSpPr>
        <p:spPr>
          <a:xfrm xmlns:a="http://schemas.openxmlformats.org/drawingml/2006/main">
            <a:off x="685800" y="2457450"/>
            <a:ext cx="10477500" cy="0"/>
          </a:xfrm>
          <a:prstGeom xmlns:a="http://schemas.openxmlformats.org/drawingml/2006/main" prst="straightConnector1">
            <a:avLst/>
          </a:prstGeom>
          <a:ln xmlns:a="http://schemas.openxmlformats.org/drawingml/2006/main" w="9525">
            <a:solidFill>
              <a:srgbClr val="C6CBD2"/>
            </a:solidFill>
            <a:prstDash val="solid"/>
          </a:ln>
        </p:spPr>
      </p:cxnSp>
      <p:sp>
        <p:nvSpPr>
          <p:cNvPr id="9" name="">
            <a:extLst xmlns:a="http://schemas.openxmlformats.org/drawingml/2006/main">
              <a:ext uri="{FF2B5EF4-FFF2-40B4-BE49-F238E27FC236}">
                <a16:creationId xmlns:a16="http://schemas.microsoft.com/office/drawing/2014/main" id="{D94441B5-69A3-4FD1-AAA8-491E95852A2F}"/>
              </a:ext>
            </a:extLst>
          </p:cNvPr>
          <p:cNvSpPr>
            <a:spLocks xmlns:a="http://schemas.openxmlformats.org/drawingml/2006/main" noGrp="1"/>
          </p:cNvSpPr>
          <p:nvPr/>
        </p:nvSpPr>
        <p:spPr>
          <a:xfrm xmlns:a="http://schemas.openxmlformats.org/drawingml/2006/main">
            <a:off x="685800" y="28003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バックエンド</a:t>
            </a:r>
          </a:p>
        </p:txBody>
      </p:sp>
      <p:sp>
        <p:nvSpPr>
          <p:cNvPr id="10" name="">
            <a:extLst xmlns:a="http://schemas.openxmlformats.org/drawingml/2006/main">
              <a:ext uri="{FF2B5EF4-FFF2-40B4-BE49-F238E27FC236}">
                <a16:creationId xmlns:a16="http://schemas.microsoft.com/office/drawing/2014/main" id="{8FC066AD-459D-4F03-B3C3-F39829D6D5F0}"/>
              </a:ext>
            </a:extLst>
          </p:cNvPr>
          <p:cNvSpPr>
            <a:spLocks xmlns:a="http://schemas.openxmlformats.org/drawingml/2006/main" noGrp="1"/>
          </p:cNvSpPr>
          <p:nvPr/>
        </p:nvSpPr>
        <p:spPr>
          <a:xfrm xmlns:a="http://schemas.openxmlformats.org/drawingml/2006/main">
            <a:off x="3848100" y="28003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11111"/>
                </a:solidFill>
                <a:latin typeface="Yu Gothic"/>
                <a:ea typeface="Yu Gothic"/>
                <a:cs typeface="Yu Gothic"/>
              </a:defRPr>
            </a:pPr>
            <a:r>
              <a:rPr sz="1950" b="1">
                <a:solidFill>
                  <a:srgbClr val="111111"/>
                </a:solidFill>
                <a:latin typeface="Yu Gothic"/>
                <a:ea typeface="Yu Gothic"/>
                <a:cs typeface="Yu Gothic"/>
              </a:rPr>
              <a:t>厨房</a:t>
            </a:r>
          </a:p>
        </p:txBody>
      </p:sp>
      <p:sp>
        <p:nvSpPr>
          <p:cNvPr id="11" name="">
            <a:extLst xmlns:a="http://schemas.openxmlformats.org/drawingml/2006/main">
              <a:ext uri="{FF2B5EF4-FFF2-40B4-BE49-F238E27FC236}">
                <a16:creationId xmlns:a16="http://schemas.microsoft.com/office/drawing/2014/main" id="{B4781523-B84C-4E5A-A045-F3DBF71D4D12}"/>
              </a:ext>
            </a:extLst>
          </p:cNvPr>
          <p:cNvSpPr>
            <a:spLocks xmlns:a="http://schemas.openxmlformats.org/drawingml/2006/main" noGrp="1"/>
          </p:cNvSpPr>
          <p:nvPr/>
        </p:nvSpPr>
        <p:spPr>
          <a:xfrm xmlns:a="http://schemas.openxmlformats.org/drawingml/2006/main">
            <a:off x="6591300" y="28003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認証・計算・ルールの処理</a:t>
            </a:r>
          </a:p>
        </p:txBody>
      </p:sp>
      <p:cxnSp>
        <p:nvCxnSpPr>
          <p:cNvPr id="33" name=""/>
          <p:cNvCxnSpPr/>
          <p:nvPr/>
        </p:nvCxnSpPr>
        <p:spPr>
          <a:xfrm xmlns:a="http://schemas.openxmlformats.org/drawingml/2006/main">
            <a:off x="685800" y="3448050"/>
            <a:ext cx="10477500" cy="0"/>
          </a:xfrm>
          <a:prstGeom xmlns:a="http://schemas.openxmlformats.org/drawingml/2006/main" prst="straightConnector1">
            <a:avLst/>
          </a:prstGeom>
          <a:ln xmlns:a="http://schemas.openxmlformats.org/drawingml/2006/main" w="9525">
            <a:solidFill>
              <a:srgbClr val="C6CBD2"/>
            </a:solidFill>
            <a:prstDash val="solid"/>
          </a:ln>
        </p:spPr>
      </p:cxnSp>
      <p:sp>
        <p:nvSpPr>
          <p:cNvPr id="13" name="">
            <a:extLst xmlns:a="http://schemas.openxmlformats.org/drawingml/2006/main">
              <a:ext uri="{FF2B5EF4-FFF2-40B4-BE49-F238E27FC236}">
                <a16:creationId xmlns:a16="http://schemas.microsoft.com/office/drawing/2014/main" id="{1F7440A8-8C4C-4F7D-A53A-AB68840DF148}"/>
              </a:ext>
            </a:extLst>
          </p:cNvPr>
          <p:cNvSpPr>
            <a:spLocks xmlns:a="http://schemas.openxmlformats.org/drawingml/2006/main" noGrp="1"/>
          </p:cNvSpPr>
          <p:nvPr/>
        </p:nvSpPr>
        <p:spPr>
          <a:xfrm xmlns:a="http://schemas.openxmlformats.org/drawingml/2006/main">
            <a:off x="685800" y="37909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データベース</a:t>
            </a:r>
          </a:p>
        </p:txBody>
      </p:sp>
      <p:sp>
        <p:nvSpPr>
          <p:cNvPr id="14" name="">
            <a:extLst xmlns:a="http://schemas.openxmlformats.org/drawingml/2006/main">
              <a:ext uri="{FF2B5EF4-FFF2-40B4-BE49-F238E27FC236}">
                <a16:creationId xmlns:a16="http://schemas.microsoft.com/office/drawing/2014/main" id="{955BFB8B-CDD4-4ADD-B4EF-F751B7A0A149}"/>
              </a:ext>
            </a:extLst>
          </p:cNvPr>
          <p:cNvSpPr>
            <a:spLocks xmlns:a="http://schemas.openxmlformats.org/drawingml/2006/main" noGrp="1"/>
          </p:cNvSpPr>
          <p:nvPr/>
        </p:nvSpPr>
        <p:spPr>
          <a:xfrm xmlns:a="http://schemas.openxmlformats.org/drawingml/2006/main">
            <a:off x="3848100" y="37909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11111"/>
                </a:solidFill>
                <a:latin typeface="Yu Gothic"/>
                <a:ea typeface="Yu Gothic"/>
                <a:cs typeface="Yu Gothic"/>
              </a:defRPr>
            </a:pPr>
            <a:r>
              <a:rPr sz="1950" b="1">
                <a:solidFill>
                  <a:srgbClr val="111111"/>
                </a:solidFill>
                <a:latin typeface="Yu Gothic"/>
                <a:ea typeface="Yu Gothic"/>
                <a:cs typeface="Yu Gothic"/>
              </a:rPr>
              <a:t>冷蔵庫と帳簿</a:t>
            </a:r>
          </a:p>
        </p:txBody>
      </p:sp>
      <p:sp>
        <p:nvSpPr>
          <p:cNvPr id="15" name="">
            <a:extLst xmlns:a="http://schemas.openxmlformats.org/drawingml/2006/main">
              <a:ext uri="{FF2B5EF4-FFF2-40B4-BE49-F238E27FC236}">
                <a16:creationId xmlns:a16="http://schemas.microsoft.com/office/drawing/2014/main" id="{49B82AD5-B3CC-42B0-BC52-F12955A5F35C}"/>
              </a:ext>
            </a:extLst>
          </p:cNvPr>
          <p:cNvSpPr>
            <a:spLocks xmlns:a="http://schemas.openxmlformats.org/drawingml/2006/main" noGrp="1"/>
          </p:cNvSpPr>
          <p:nvPr/>
        </p:nvSpPr>
        <p:spPr>
          <a:xfrm xmlns:a="http://schemas.openxmlformats.org/drawingml/2006/main">
            <a:off x="6591300" y="37909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会員・教材・学習履歴</a:t>
            </a:r>
          </a:p>
        </p:txBody>
      </p:sp>
      <p:cxnSp>
        <p:nvCxnSpPr>
          <p:cNvPr id="37" name=""/>
          <p:cNvCxnSpPr/>
          <p:nvPr/>
        </p:nvCxnSpPr>
        <p:spPr>
          <a:xfrm xmlns:a="http://schemas.openxmlformats.org/drawingml/2006/main">
            <a:off x="685800" y="4438650"/>
            <a:ext cx="10477500" cy="0"/>
          </a:xfrm>
          <a:prstGeom xmlns:a="http://schemas.openxmlformats.org/drawingml/2006/main" prst="straightConnector1">
            <a:avLst/>
          </a:prstGeom>
          <a:ln xmlns:a="http://schemas.openxmlformats.org/drawingml/2006/main" w="9525">
            <a:solidFill>
              <a:srgbClr val="C6CBD2"/>
            </a:solidFill>
            <a:prstDash val="solid"/>
          </a:ln>
        </p:spPr>
      </p:cxnSp>
      <p:sp>
        <p:nvSpPr>
          <p:cNvPr id="17" name="">
            <a:extLst xmlns:a="http://schemas.openxmlformats.org/drawingml/2006/main">
              <a:ext uri="{FF2B5EF4-FFF2-40B4-BE49-F238E27FC236}">
                <a16:creationId xmlns:a16="http://schemas.microsoft.com/office/drawing/2014/main" id="{E6292901-F045-4000-B049-92683FDBFBE5}"/>
              </a:ext>
            </a:extLst>
          </p:cNvPr>
          <p:cNvSpPr>
            <a:spLocks xmlns:a="http://schemas.openxmlformats.org/drawingml/2006/main" noGrp="1"/>
          </p:cNvSpPr>
          <p:nvPr/>
        </p:nvSpPr>
        <p:spPr>
          <a:xfrm xmlns:a="http://schemas.openxmlformats.org/drawingml/2006/main">
            <a:off x="685800" y="47815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3D8DFF"/>
                </a:solidFill>
                <a:latin typeface="Yu Gothic"/>
                <a:ea typeface="Yu Gothic"/>
                <a:cs typeface="Yu Gothic"/>
              </a:defRPr>
            </a:pPr>
            <a:r>
              <a:rPr sz="2100" b="1">
                <a:solidFill>
                  <a:srgbClr val="3D8DFF"/>
                </a:solidFill>
                <a:latin typeface="Yu Gothic"/>
                <a:ea typeface="Yu Gothic"/>
                <a:cs typeface="Yu Gothic"/>
              </a:rPr>
              <a:t>サーバー／クラウド</a:t>
            </a:r>
          </a:p>
        </p:txBody>
      </p:sp>
      <p:sp>
        <p:nvSpPr>
          <p:cNvPr id="18" name="">
            <a:extLst xmlns:a="http://schemas.openxmlformats.org/drawingml/2006/main">
              <a:ext uri="{FF2B5EF4-FFF2-40B4-BE49-F238E27FC236}">
                <a16:creationId xmlns:a16="http://schemas.microsoft.com/office/drawing/2014/main" id="{5009ED8F-73D7-45B5-AE83-1388F669DDD6}"/>
              </a:ext>
            </a:extLst>
          </p:cNvPr>
          <p:cNvSpPr>
            <a:spLocks xmlns:a="http://schemas.openxmlformats.org/drawingml/2006/main" noGrp="1"/>
          </p:cNvSpPr>
          <p:nvPr/>
        </p:nvSpPr>
        <p:spPr>
          <a:xfrm xmlns:a="http://schemas.openxmlformats.org/drawingml/2006/main">
            <a:off x="3848100" y="478155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111111"/>
                </a:solidFill>
                <a:latin typeface="Yu Gothic"/>
                <a:ea typeface="Yu Gothic"/>
                <a:cs typeface="Yu Gothic"/>
              </a:defRPr>
            </a:pPr>
            <a:r>
              <a:rPr sz="1950" b="1">
                <a:solidFill>
                  <a:srgbClr val="111111"/>
                </a:solidFill>
                <a:latin typeface="Yu Gothic"/>
                <a:ea typeface="Yu Gothic"/>
                <a:cs typeface="Yu Gothic"/>
              </a:rPr>
              <a:t>場所と設備</a:t>
            </a:r>
          </a:p>
        </p:txBody>
      </p:sp>
      <p:sp>
        <p:nvSpPr>
          <p:cNvPr id="19" name="">
            <a:extLst xmlns:a="http://schemas.openxmlformats.org/drawingml/2006/main">
              <a:ext uri="{FF2B5EF4-FFF2-40B4-BE49-F238E27FC236}">
                <a16:creationId xmlns:a16="http://schemas.microsoft.com/office/drawing/2014/main" id="{B995750B-A4F1-416E-8949-B4609AC8CC19}"/>
              </a:ext>
            </a:extLst>
          </p:cNvPr>
          <p:cNvSpPr>
            <a:spLocks xmlns:a="http://schemas.openxmlformats.org/drawingml/2006/main" noGrp="1"/>
          </p:cNvSpPr>
          <p:nvPr/>
        </p:nvSpPr>
        <p:spPr>
          <a:xfrm xmlns:a="http://schemas.openxmlformats.org/drawingml/2006/main">
            <a:off x="6591300" y="47815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サービスを継続して動かす</a:t>
            </a:r>
          </a:p>
        </p:txBody>
      </p:sp>
      <p:cxnSp>
        <p:nvCxnSpPr>
          <p:cNvPr id="41" name=""/>
          <p:cNvCxnSpPr/>
          <p:nvPr/>
        </p:nvCxnSpPr>
        <p:spPr>
          <a:xfrm xmlns:a="http://schemas.openxmlformats.org/drawingml/2006/main">
            <a:off x="685800" y="5429250"/>
            <a:ext cx="10477500" cy="0"/>
          </a:xfrm>
          <a:prstGeom xmlns:a="http://schemas.openxmlformats.org/drawingml/2006/main" prst="straightConnector1">
            <a:avLst/>
          </a:prstGeom>
          <a:ln xmlns:a="http://schemas.openxmlformats.org/drawingml/2006/main" w="9525">
            <a:solidFill>
              <a:srgbClr val="C6CBD2"/>
            </a:solidFill>
            <a:prstDash val="solid"/>
          </a:ln>
        </p:spPr>
      </p:cxnSp>
      <p:sp>
        <p:nvSpPr>
          <p:cNvPr id="21" name="">
            <a:extLst xmlns:a="http://schemas.openxmlformats.org/drawingml/2006/main">
              <a:ext uri="{FF2B5EF4-FFF2-40B4-BE49-F238E27FC236}">
                <a16:creationId xmlns:a16="http://schemas.microsoft.com/office/drawing/2014/main" id="{2CE4369A-C403-44B2-AAE4-8690E85A1F7C}"/>
              </a:ext>
            </a:extLst>
          </p:cNvPr>
          <p:cNvSpPr>
            <a:spLocks xmlns:a="http://schemas.openxmlformats.org/drawingml/2006/main" noGrp="1"/>
          </p:cNvSpPr>
          <p:nvPr/>
        </p:nvSpPr>
        <p:spPr>
          <a:xfrm xmlns:a="http://schemas.openxmlformats.org/drawingml/2006/main">
            <a:off x="685800" y="5772150"/>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3D8DFF"/>
                </a:solidFill>
                <a:latin typeface="Yu Gothic"/>
                <a:ea typeface="Yu Gothic"/>
                <a:cs typeface="Yu Gothic"/>
              </a:defRPr>
            </a:pPr>
            <a:r>
              <a:rPr sz="1950" b="1">
                <a:solidFill>
                  <a:srgbClr val="3D8DFF"/>
                </a:solidFill>
                <a:latin typeface="Yu Gothic"/>
                <a:ea typeface="Yu Gothic"/>
                <a:cs typeface="Yu Gothic"/>
              </a:rPr>
              <a:t>ログイン・保存・決済・AI API Key → バックエンドが必要</a:t>
            </a:r>
          </a:p>
        </p:txBody>
      </p:sp>
    </p:spTree>
    <p:extLst>
      <p:ext uri="{BB962C8B-B14F-4D97-AF65-F5344CB8AC3E}">
        <p14:creationId xmlns:p14="http://schemas.microsoft.com/office/powerpoint/2010/main" val="12012492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85E0BBC-2C02-48FF-98F2-3D285BE760F4}"/>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2｜技術を理解する</a:t>
            </a:r>
          </a:p>
        </p:txBody>
      </p:sp>
      <p:sp>
        <p:nvSpPr>
          <p:cNvPr id="2" name="">
            <a:extLst xmlns:a="http://schemas.openxmlformats.org/drawingml/2006/main">
              <a:ext uri="{FF2B5EF4-FFF2-40B4-BE49-F238E27FC236}">
                <a16:creationId xmlns:a16="http://schemas.microsoft.com/office/drawing/2014/main" id="{5B80124D-BC45-43AC-B7A9-1FAB9E36E03D}"/>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作りたいものは、どのレベルか</a:t>
            </a:r>
          </a:p>
        </p:txBody>
      </p:sp>
      <p:cxnSp>
        <p:nvCxnSpPr>
          <p:cNvPr id="24"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0289A317-706D-46DA-8034-05A890FB6487}"/>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07</a:t>
            </a:r>
          </a:p>
        </p:txBody>
      </p:sp>
      <p:sp>
        <p:nvSpPr>
          <p:cNvPr id="5" name="">
            <a:extLst xmlns:a="http://schemas.openxmlformats.org/drawingml/2006/main">
              <a:ext uri="{FF2B5EF4-FFF2-40B4-BE49-F238E27FC236}">
                <a16:creationId xmlns:a16="http://schemas.microsoft.com/office/drawing/2014/main" id="{49E2937C-ACFC-4633-8606-22967BCB63A7}"/>
              </a:ext>
            </a:extLst>
          </p:cNvPr>
          <p:cNvSpPr>
            <a:spLocks xmlns:a="http://schemas.openxmlformats.org/drawingml/2006/main" noGrp="1"/>
          </p:cNvSpPr>
          <p:nvPr/>
        </p:nvSpPr>
        <p:spPr>
          <a:xfrm xmlns:a="http://schemas.openxmlformats.org/drawingml/2006/main">
            <a:off x="685800" y="1695450"/>
            <a:ext cx="685800" cy="685800"/>
          </a:xfrm>
          <a:prstGeom xmlns:a="http://schemas.openxmlformats.org/drawingml/2006/main" prst="roundRect">
            <a:avLst>
              <a:gd name="adj" fmla="val 11111"/>
            </a:avLst>
          </a:prstGeom>
          <a:solidFill xmlns:a="http://schemas.openxmlformats.org/drawingml/2006/main">
            <a:srgbClr val="EAF6FC"/>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3300" b="1">
                <a:solidFill>
                  <a:srgbClr val="3D8DFF"/>
                </a:solidFill>
                <a:latin typeface="Yu Gothic"/>
                <a:ea typeface="Yu Gothic"/>
                <a:cs typeface="Yu Gothic"/>
              </a:defRPr>
            </a:pPr>
            <a:r>
              <a:rPr sz="3300" b="1">
                <a:solidFill>
                  <a:srgbClr val="3D8DFF"/>
                </a:solidFill>
                <a:latin typeface="Yu Gothic"/>
                <a:ea typeface="Yu Gothic"/>
                <a:cs typeface="Yu Gothic"/>
              </a:rPr>
              <a:t>1</a:t>
            </a:r>
          </a:p>
        </p:txBody>
      </p:sp>
      <p:sp>
        <p:nvSpPr>
          <p:cNvPr id="6" name="">
            <a:extLst xmlns:a="http://schemas.openxmlformats.org/drawingml/2006/main">
              <a:ext uri="{FF2B5EF4-FFF2-40B4-BE49-F238E27FC236}">
                <a16:creationId xmlns:a16="http://schemas.microsoft.com/office/drawing/2014/main" id="{0A91CE53-B33C-4D59-90D2-54806856E1A3}"/>
              </a:ext>
            </a:extLst>
          </p:cNvPr>
          <p:cNvSpPr>
            <a:spLocks xmlns:a="http://schemas.openxmlformats.org/drawingml/2006/main" noGrp="1"/>
          </p:cNvSpPr>
          <p:nvPr/>
        </p:nvSpPr>
        <p:spPr>
          <a:xfrm xmlns:a="http://schemas.openxmlformats.org/drawingml/2006/main">
            <a:off x="1676400" y="17335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授業用・自分用</a:t>
            </a:r>
          </a:p>
        </p:txBody>
      </p:sp>
      <p:sp>
        <p:nvSpPr>
          <p:cNvPr id="7" name="">
            <a:extLst xmlns:a="http://schemas.openxmlformats.org/drawingml/2006/main">
              <a:ext uri="{FF2B5EF4-FFF2-40B4-BE49-F238E27FC236}">
                <a16:creationId xmlns:a16="http://schemas.microsoft.com/office/drawing/2014/main" id="{A395882D-3A0F-4F8D-A60B-214CCF4FA7ED}"/>
              </a:ext>
            </a:extLst>
          </p:cNvPr>
          <p:cNvSpPr>
            <a:spLocks xmlns:a="http://schemas.openxmlformats.org/drawingml/2006/main" noGrp="1"/>
          </p:cNvSpPr>
          <p:nvPr/>
        </p:nvSpPr>
        <p:spPr>
          <a:xfrm xmlns:a="http://schemas.openxmlformats.org/drawingml/2006/main">
            <a:off x="4762500" y="173355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静的サイト／保存なし</a:t>
            </a:r>
          </a:p>
        </p:txBody>
      </p:sp>
      <p:sp>
        <p:nvSpPr>
          <p:cNvPr id="8" name="">
            <a:extLst xmlns:a="http://schemas.openxmlformats.org/drawingml/2006/main">
              <a:ext uri="{FF2B5EF4-FFF2-40B4-BE49-F238E27FC236}">
                <a16:creationId xmlns:a16="http://schemas.microsoft.com/office/drawing/2014/main" id="{5919C9EF-37A0-4BC1-90AD-D1F686CC41D9}"/>
              </a:ext>
            </a:extLst>
          </p:cNvPr>
          <p:cNvSpPr>
            <a:spLocks xmlns:a="http://schemas.openxmlformats.org/drawingml/2006/main" noGrp="1"/>
          </p:cNvSpPr>
          <p:nvPr/>
        </p:nvSpPr>
        <p:spPr>
          <a:xfrm xmlns:a="http://schemas.openxmlformats.org/drawingml/2006/main">
            <a:off x="8058150" y="17335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漢字練習・教材生成</a:t>
            </a:r>
          </a:p>
        </p:txBody>
      </p:sp>
      <p:sp>
        <p:nvSpPr>
          <p:cNvPr id="9" name="">
            <a:extLst xmlns:a="http://schemas.openxmlformats.org/drawingml/2006/main">
              <a:ext uri="{FF2B5EF4-FFF2-40B4-BE49-F238E27FC236}">
                <a16:creationId xmlns:a16="http://schemas.microsoft.com/office/drawing/2014/main" id="{C6A16766-1FDD-4432-9983-658116FF88CB}"/>
              </a:ext>
            </a:extLst>
          </p:cNvPr>
          <p:cNvSpPr>
            <a:spLocks xmlns:a="http://schemas.openxmlformats.org/drawingml/2006/main" noGrp="1"/>
          </p:cNvSpPr>
          <p:nvPr/>
        </p:nvSpPr>
        <p:spPr>
          <a:xfrm xmlns:a="http://schemas.openxmlformats.org/drawingml/2006/main">
            <a:off x="685800" y="2762250"/>
            <a:ext cx="685800" cy="685800"/>
          </a:xfrm>
          <a:prstGeom xmlns:a="http://schemas.openxmlformats.org/drawingml/2006/main" prst="roundRect">
            <a:avLst>
              <a:gd name="adj" fmla="val 11111"/>
            </a:avLst>
          </a:prstGeom>
          <a:solidFill xmlns:a="http://schemas.openxmlformats.org/drawingml/2006/main">
            <a:srgbClr val="EAF6FC"/>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3300" b="1">
                <a:solidFill>
                  <a:srgbClr val="3D8DFF"/>
                </a:solidFill>
                <a:latin typeface="Yu Gothic"/>
                <a:ea typeface="Yu Gothic"/>
                <a:cs typeface="Yu Gothic"/>
              </a:defRPr>
            </a:pPr>
            <a:r>
              <a:rPr sz="3300" b="1">
                <a:solidFill>
                  <a:srgbClr val="3D8DFF"/>
                </a:solidFill>
                <a:latin typeface="Yu Gothic"/>
                <a:ea typeface="Yu Gothic"/>
                <a:cs typeface="Yu Gothic"/>
              </a:rPr>
              <a:t>2</a:t>
            </a:r>
          </a:p>
        </p:txBody>
      </p:sp>
      <p:sp>
        <p:nvSpPr>
          <p:cNvPr id="10" name="">
            <a:extLst xmlns:a="http://schemas.openxmlformats.org/drawingml/2006/main">
              <a:ext uri="{FF2B5EF4-FFF2-40B4-BE49-F238E27FC236}">
                <a16:creationId xmlns:a16="http://schemas.microsoft.com/office/drawing/2014/main" id="{1809C1F3-EE7D-4BAA-9B71-72D14EB808EE}"/>
              </a:ext>
            </a:extLst>
          </p:cNvPr>
          <p:cNvSpPr>
            <a:spLocks xmlns:a="http://schemas.openxmlformats.org/drawingml/2006/main" noGrp="1"/>
          </p:cNvSpPr>
          <p:nvPr/>
        </p:nvSpPr>
        <p:spPr>
          <a:xfrm xmlns:a="http://schemas.openxmlformats.org/drawingml/2006/main">
            <a:off x="1676400" y="28003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小規模な学生向け</a:t>
            </a:r>
          </a:p>
        </p:txBody>
      </p:sp>
      <p:sp>
        <p:nvSpPr>
          <p:cNvPr id="11" name="">
            <a:extLst xmlns:a="http://schemas.openxmlformats.org/drawingml/2006/main">
              <a:ext uri="{FF2B5EF4-FFF2-40B4-BE49-F238E27FC236}">
                <a16:creationId xmlns:a16="http://schemas.microsoft.com/office/drawing/2014/main" id="{3CC6E72E-CB27-4E4B-B88B-5F5D2E673DF4}"/>
              </a:ext>
            </a:extLst>
          </p:cNvPr>
          <p:cNvSpPr>
            <a:spLocks xmlns:a="http://schemas.openxmlformats.org/drawingml/2006/main" noGrp="1"/>
          </p:cNvSpPr>
          <p:nvPr/>
        </p:nvSpPr>
        <p:spPr>
          <a:xfrm xmlns:a="http://schemas.openxmlformats.org/drawingml/2006/main">
            <a:off x="4762500" y="280035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学生データを保存</a:t>
            </a:r>
          </a:p>
        </p:txBody>
      </p:sp>
      <p:sp>
        <p:nvSpPr>
          <p:cNvPr id="12" name="">
            <a:extLst xmlns:a="http://schemas.openxmlformats.org/drawingml/2006/main">
              <a:ext uri="{FF2B5EF4-FFF2-40B4-BE49-F238E27FC236}">
                <a16:creationId xmlns:a16="http://schemas.microsoft.com/office/drawing/2014/main" id="{C90F2422-629D-4BC1-B4E7-065AE2F89971}"/>
              </a:ext>
            </a:extLst>
          </p:cNvPr>
          <p:cNvSpPr>
            <a:spLocks xmlns:a="http://schemas.openxmlformats.org/drawingml/2006/main" noGrp="1"/>
          </p:cNvSpPr>
          <p:nvPr/>
        </p:nvSpPr>
        <p:spPr>
          <a:xfrm xmlns:a="http://schemas.openxmlformats.org/drawingml/2006/main">
            <a:off x="8058150" y="28003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Google Sheet＋GAS</a:t>
            </a:r>
          </a:p>
        </p:txBody>
      </p:sp>
      <p:sp>
        <p:nvSpPr>
          <p:cNvPr id="13" name="">
            <a:extLst xmlns:a="http://schemas.openxmlformats.org/drawingml/2006/main">
              <a:ext uri="{FF2B5EF4-FFF2-40B4-BE49-F238E27FC236}">
                <a16:creationId xmlns:a16="http://schemas.microsoft.com/office/drawing/2014/main" id="{B5F14096-F697-4ABD-9A7A-428EF69A5180}"/>
              </a:ext>
            </a:extLst>
          </p:cNvPr>
          <p:cNvSpPr>
            <a:spLocks xmlns:a="http://schemas.openxmlformats.org/drawingml/2006/main" noGrp="1"/>
          </p:cNvSpPr>
          <p:nvPr/>
        </p:nvSpPr>
        <p:spPr>
          <a:xfrm xmlns:a="http://schemas.openxmlformats.org/drawingml/2006/main">
            <a:off x="685800" y="3829050"/>
            <a:ext cx="685800" cy="685800"/>
          </a:xfrm>
          <a:prstGeom xmlns:a="http://schemas.openxmlformats.org/drawingml/2006/main" prst="roundRect">
            <a:avLst>
              <a:gd name="adj" fmla="val 11111"/>
            </a:avLst>
          </a:prstGeom>
          <a:solidFill xmlns:a="http://schemas.openxmlformats.org/drawingml/2006/main">
            <a:srgbClr val="FFF2D6"/>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3300" b="1">
                <a:solidFill>
                  <a:srgbClr val="D45D5D"/>
                </a:solidFill>
                <a:latin typeface="Yu Gothic"/>
                <a:ea typeface="Yu Gothic"/>
                <a:cs typeface="Yu Gothic"/>
              </a:defRPr>
            </a:pPr>
            <a:r>
              <a:rPr sz="3300" b="1">
                <a:solidFill>
                  <a:srgbClr val="D45D5D"/>
                </a:solidFill>
                <a:latin typeface="Yu Gothic"/>
                <a:ea typeface="Yu Gothic"/>
                <a:cs typeface="Yu Gothic"/>
              </a:rPr>
              <a:t>3</a:t>
            </a:r>
          </a:p>
        </p:txBody>
      </p:sp>
      <p:sp>
        <p:nvSpPr>
          <p:cNvPr id="14" name="">
            <a:extLst xmlns:a="http://schemas.openxmlformats.org/drawingml/2006/main">
              <a:ext uri="{FF2B5EF4-FFF2-40B4-BE49-F238E27FC236}">
                <a16:creationId xmlns:a16="http://schemas.microsoft.com/office/drawing/2014/main" id="{14D50926-26F3-41E3-A3C7-E041C6EB77E1}"/>
              </a:ext>
            </a:extLst>
          </p:cNvPr>
          <p:cNvSpPr>
            <a:spLocks xmlns:a="http://schemas.openxmlformats.org/drawingml/2006/main" noGrp="1"/>
          </p:cNvSpPr>
          <p:nvPr/>
        </p:nvSpPr>
        <p:spPr>
          <a:xfrm xmlns:a="http://schemas.openxmlformats.org/drawingml/2006/main">
            <a:off x="1676400" y="38671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学生向け＋AI</a:t>
            </a:r>
          </a:p>
        </p:txBody>
      </p:sp>
      <p:sp>
        <p:nvSpPr>
          <p:cNvPr id="15" name="">
            <a:extLst xmlns:a="http://schemas.openxmlformats.org/drawingml/2006/main">
              <a:ext uri="{FF2B5EF4-FFF2-40B4-BE49-F238E27FC236}">
                <a16:creationId xmlns:a16="http://schemas.microsoft.com/office/drawing/2014/main" id="{7D2EEBE9-7447-4ACD-89A3-72244B3BA70E}"/>
              </a:ext>
            </a:extLst>
          </p:cNvPr>
          <p:cNvSpPr>
            <a:spLocks xmlns:a="http://schemas.openxmlformats.org/drawingml/2006/main" noGrp="1"/>
          </p:cNvSpPr>
          <p:nvPr/>
        </p:nvSpPr>
        <p:spPr>
          <a:xfrm xmlns:a="http://schemas.openxmlformats.org/drawingml/2006/main">
            <a:off x="4762500" y="386715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生成・添削・個別化</a:t>
            </a:r>
          </a:p>
        </p:txBody>
      </p:sp>
      <p:sp>
        <p:nvSpPr>
          <p:cNvPr id="16" name="">
            <a:extLst xmlns:a="http://schemas.openxmlformats.org/drawingml/2006/main">
              <a:ext uri="{FF2B5EF4-FFF2-40B4-BE49-F238E27FC236}">
                <a16:creationId xmlns:a16="http://schemas.microsoft.com/office/drawing/2014/main" id="{3036188E-4634-4DB1-BA0F-EF1C12738222}"/>
              </a:ext>
            </a:extLst>
          </p:cNvPr>
          <p:cNvSpPr>
            <a:spLocks xmlns:a="http://schemas.openxmlformats.org/drawingml/2006/main" noGrp="1"/>
          </p:cNvSpPr>
          <p:nvPr/>
        </p:nvSpPr>
        <p:spPr>
          <a:xfrm xmlns:a="http://schemas.openxmlformats.org/drawingml/2006/main">
            <a:off x="8058150" y="38671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Tokenと品質管理</a:t>
            </a:r>
          </a:p>
        </p:txBody>
      </p:sp>
      <p:sp>
        <p:nvSpPr>
          <p:cNvPr id="17" name="">
            <a:extLst xmlns:a="http://schemas.openxmlformats.org/drawingml/2006/main">
              <a:ext uri="{FF2B5EF4-FFF2-40B4-BE49-F238E27FC236}">
                <a16:creationId xmlns:a16="http://schemas.microsoft.com/office/drawing/2014/main" id="{296FC94A-8A2E-444D-80BC-2FFFC7EA9131}"/>
              </a:ext>
            </a:extLst>
          </p:cNvPr>
          <p:cNvSpPr>
            <a:spLocks xmlns:a="http://schemas.openxmlformats.org/drawingml/2006/main" noGrp="1"/>
          </p:cNvSpPr>
          <p:nvPr/>
        </p:nvSpPr>
        <p:spPr>
          <a:xfrm xmlns:a="http://schemas.openxmlformats.org/drawingml/2006/main">
            <a:off x="685800" y="4895850"/>
            <a:ext cx="685800" cy="685800"/>
          </a:xfrm>
          <a:prstGeom xmlns:a="http://schemas.openxmlformats.org/drawingml/2006/main" prst="roundRect">
            <a:avLst>
              <a:gd name="adj" fmla="val 11111"/>
            </a:avLst>
          </a:prstGeom>
          <a:solidFill xmlns:a="http://schemas.openxmlformats.org/drawingml/2006/main">
            <a:srgbClr val="FFF2D6"/>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3300" b="1">
                <a:solidFill>
                  <a:srgbClr val="D45D5D"/>
                </a:solidFill>
                <a:latin typeface="Yu Gothic"/>
                <a:ea typeface="Yu Gothic"/>
                <a:cs typeface="Yu Gothic"/>
              </a:defRPr>
            </a:pPr>
            <a:r>
              <a:rPr sz="3300" b="1">
                <a:solidFill>
                  <a:srgbClr val="D45D5D"/>
                </a:solidFill>
                <a:latin typeface="Yu Gothic"/>
                <a:ea typeface="Yu Gothic"/>
                <a:cs typeface="Yu Gothic"/>
              </a:rPr>
              <a:t>4</a:t>
            </a:r>
          </a:p>
        </p:txBody>
      </p:sp>
      <p:sp>
        <p:nvSpPr>
          <p:cNvPr id="18" name="">
            <a:extLst xmlns:a="http://schemas.openxmlformats.org/drawingml/2006/main">
              <a:ext uri="{FF2B5EF4-FFF2-40B4-BE49-F238E27FC236}">
                <a16:creationId xmlns:a16="http://schemas.microsoft.com/office/drawing/2014/main" id="{10F43E08-2A77-4870-96BB-AC36F2C1C97A}"/>
              </a:ext>
            </a:extLst>
          </p:cNvPr>
          <p:cNvSpPr>
            <a:spLocks xmlns:a="http://schemas.openxmlformats.org/drawingml/2006/main" noGrp="1"/>
          </p:cNvSpPr>
          <p:nvPr/>
        </p:nvSpPr>
        <p:spPr>
          <a:xfrm xmlns:a="http://schemas.openxmlformats.org/drawingml/2006/main">
            <a:off x="1676400" y="49339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外部向け商用</a:t>
            </a:r>
          </a:p>
        </p:txBody>
      </p:sp>
      <p:sp>
        <p:nvSpPr>
          <p:cNvPr id="19" name="">
            <a:extLst xmlns:a="http://schemas.openxmlformats.org/drawingml/2006/main">
              <a:ext uri="{FF2B5EF4-FFF2-40B4-BE49-F238E27FC236}">
                <a16:creationId xmlns:a16="http://schemas.microsoft.com/office/drawing/2014/main" id="{AA9EC588-DEB1-4F3C-AFAE-6E4FDF62625E}"/>
              </a:ext>
            </a:extLst>
          </p:cNvPr>
          <p:cNvSpPr>
            <a:spLocks xmlns:a="http://schemas.openxmlformats.org/drawingml/2006/main" noGrp="1"/>
          </p:cNvSpPr>
          <p:nvPr/>
        </p:nvSpPr>
        <p:spPr>
          <a:xfrm xmlns:a="http://schemas.openxmlformats.org/drawingml/2006/main">
            <a:off x="4762500" y="493395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会員・決済・資安</a:t>
            </a:r>
          </a:p>
        </p:txBody>
      </p:sp>
      <p:sp>
        <p:nvSpPr>
          <p:cNvPr id="20" name="">
            <a:extLst xmlns:a="http://schemas.openxmlformats.org/drawingml/2006/main">
              <a:ext uri="{FF2B5EF4-FFF2-40B4-BE49-F238E27FC236}">
                <a16:creationId xmlns:a16="http://schemas.microsoft.com/office/drawing/2014/main" id="{0EFEC5D8-2999-42DD-9609-4860D9BF92A8}"/>
              </a:ext>
            </a:extLst>
          </p:cNvPr>
          <p:cNvSpPr>
            <a:spLocks xmlns:a="http://schemas.openxmlformats.org/drawingml/2006/main" noGrp="1"/>
          </p:cNvSpPr>
          <p:nvPr/>
        </p:nvSpPr>
        <p:spPr>
          <a:xfrm xmlns:a="http://schemas.openxmlformats.org/drawingml/2006/main">
            <a:off x="8058150" y="49339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製品と運営全体</a:t>
            </a:r>
          </a:p>
        </p:txBody>
      </p:sp>
      <p:sp>
        <p:nvSpPr>
          <p:cNvPr id="21" name="">
            <a:extLst xmlns:a="http://schemas.openxmlformats.org/drawingml/2006/main">
              <a:ext uri="{FF2B5EF4-FFF2-40B4-BE49-F238E27FC236}">
                <a16:creationId xmlns:a16="http://schemas.microsoft.com/office/drawing/2014/main" id="{1E66A4DA-4D17-4C7D-9DA6-C8259D9E7A92}"/>
              </a:ext>
            </a:extLst>
          </p:cNvPr>
          <p:cNvSpPr>
            <a:spLocks xmlns:a="http://schemas.openxmlformats.org/drawingml/2006/main" noGrp="1"/>
          </p:cNvSpPr>
          <p:nvPr/>
        </p:nvSpPr>
        <p:spPr>
          <a:xfrm xmlns:a="http://schemas.openxmlformats.org/drawingml/2006/main">
            <a:off x="685800" y="59626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a:solidFill>
                  <a:srgbClr val="111111"/>
                </a:solidFill>
                <a:latin typeface="Yu Gothic"/>
                <a:ea typeface="Yu Gothic"/>
                <a:cs typeface="Yu Gothic"/>
              </a:defRPr>
            </a:pPr>
            <a:r>
              <a:rPr sz="1875" b="1">
                <a:solidFill>
                  <a:srgbClr val="111111"/>
                </a:solidFill>
                <a:latin typeface="Yu Gothic"/>
                <a:ea typeface="Yu Gothic"/>
                <a:cs typeface="Yu Gothic"/>
              </a:rPr>
              <a:t>Levelは品質ではなく、技術と運営責任の大きさ。</a:t>
            </a:r>
          </a:p>
        </p:txBody>
      </p:sp>
    </p:spTree>
    <p:extLst>
      <p:ext uri="{BB962C8B-B14F-4D97-AF65-F5344CB8AC3E}">
        <p14:creationId xmlns:p14="http://schemas.microsoft.com/office/powerpoint/2010/main" val="2185419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2088F8-D2B4-40DC-B87F-B74100EEF3F0}"/>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3｜漢字サイトの実例</a:t>
            </a:r>
          </a:p>
        </p:txBody>
      </p:sp>
      <p:sp>
        <p:nvSpPr>
          <p:cNvPr id="2" name="">
            <a:extLst xmlns:a="http://schemas.openxmlformats.org/drawingml/2006/main">
              <a:ext uri="{FF2B5EF4-FFF2-40B4-BE49-F238E27FC236}">
                <a16:creationId xmlns:a16="http://schemas.microsoft.com/office/drawing/2014/main" id="{180C6A32-0A94-4912-8ACA-F3DC9738CF92}"/>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PDFではなく「作り続けられる道具」にする</a:t>
            </a:r>
          </a:p>
        </p:txBody>
      </p:sp>
      <p:cxnSp>
        <p:nvCxnSpPr>
          <p:cNvPr id="12"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D78B8AE6-59BA-496F-B0E8-ABF5D5539052}"/>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08</a:t>
            </a:r>
          </a:p>
        </p:txBody>
      </p:sp>
      <p:sp>
        <p:nvSpPr>
          <p:cNvPr id="5" name="">
            <a:extLst xmlns:a="http://schemas.openxmlformats.org/drawingml/2006/main">
              <a:ext uri="{FF2B5EF4-FFF2-40B4-BE49-F238E27FC236}">
                <a16:creationId xmlns:a16="http://schemas.microsoft.com/office/drawing/2014/main" id="{7AE5EEE2-E74B-4BB2-A76C-6837BB62CFC3}"/>
              </a:ext>
            </a:extLst>
          </p:cNvPr>
          <p:cNvSpPr>
            <a:spLocks xmlns:a="http://schemas.openxmlformats.org/drawingml/2006/main" noGrp="1"/>
          </p:cNvSpPr>
          <p:nvPr/>
        </p:nvSpPr>
        <p:spPr>
          <a:xfrm xmlns:a="http://schemas.openxmlformats.org/drawingml/2006/main">
            <a:off x="609600" y="2038350"/>
            <a:ext cx="3714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000" b="1">
                <a:solidFill>
                  <a:srgbClr val="111111"/>
                </a:solidFill>
                <a:latin typeface="Yu Gothic"/>
                <a:ea typeface="Yu Gothic"/>
                <a:cs typeface="Yu Gothic"/>
              </a:defRPr>
            </a:pPr>
            <a:r>
              <a:rPr sz="3000" b="1">
                <a:solidFill>
                  <a:srgbClr val="111111"/>
                </a:solidFill>
                <a:latin typeface="Yu Gothic"/>
                <a:ea typeface="Yu Gothic"/>
                <a:cs typeface="Yu Gothic"/>
              </a:rPr>
              <a:t>PDFは</a:t>
            </a:r>
          </a:p>
          <a:p xmlns:a="http://schemas.openxmlformats.org/drawingml/2006/main">
            <a:pPr algn="l">
              <a:defRPr sz="3000" b="1">
                <a:solidFill>
                  <a:srgbClr val="111111"/>
                </a:solidFill>
                <a:latin typeface="Yu Gothic"/>
                <a:ea typeface="Yu Gothic"/>
                <a:cs typeface="Yu Gothic"/>
              </a:defRPr>
            </a:pPr>
            <a:r>
              <a:rPr sz="3000" b="1">
                <a:solidFill>
                  <a:srgbClr val="111111"/>
                </a:solidFill>
                <a:latin typeface="Yu Gothic"/>
                <a:ea typeface="Yu Gothic"/>
                <a:cs typeface="Yu Gothic"/>
              </a:rPr>
              <a:t>最終的な出力。</a:t>
            </a:r>
          </a:p>
        </p:txBody>
      </p:sp>
      <p:sp>
        <p:nvSpPr>
          <p:cNvPr id="6" name="">
            <a:extLst xmlns:a="http://schemas.openxmlformats.org/drawingml/2006/main">
              <a:ext uri="{FF2B5EF4-FFF2-40B4-BE49-F238E27FC236}">
                <a16:creationId xmlns:a16="http://schemas.microsoft.com/office/drawing/2014/main" id="{332A18FB-3861-40AA-9CAB-67B6EE29C1DD}"/>
              </a:ext>
            </a:extLst>
          </p:cNvPr>
          <p:cNvSpPr>
            <a:spLocks xmlns:a="http://schemas.openxmlformats.org/drawingml/2006/main" noGrp="1"/>
          </p:cNvSpPr>
          <p:nvPr/>
        </p:nvSpPr>
        <p:spPr>
          <a:xfrm xmlns:a="http://schemas.openxmlformats.org/drawingml/2006/main">
            <a:off x="609600" y="3352800"/>
            <a:ext cx="4286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000" b="1">
                <a:solidFill>
                  <a:srgbClr val="3D8DFF"/>
                </a:solidFill>
                <a:latin typeface="Yu Gothic"/>
                <a:ea typeface="Yu Gothic"/>
                <a:cs typeface="Yu Gothic"/>
              </a:defRPr>
            </a:pPr>
            <a:r>
              <a:rPr sz="3000" b="1">
                <a:solidFill>
                  <a:srgbClr val="3D8DFF"/>
                </a:solidFill>
                <a:latin typeface="Yu Gothic"/>
                <a:ea typeface="Yu Gothic"/>
                <a:cs typeface="Yu Gothic"/>
              </a:rPr>
              <a:t>Webは</a:t>
            </a:r>
          </a:p>
          <a:p xmlns:a="http://schemas.openxmlformats.org/drawingml/2006/main">
            <a:pPr algn="l">
              <a:defRPr sz="3000" b="1">
                <a:solidFill>
                  <a:srgbClr val="3D8DFF"/>
                </a:solidFill>
                <a:latin typeface="Yu Gothic"/>
                <a:ea typeface="Yu Gothic"/>
                <a:cs typeface="Yu Gothic"/>
              </a:defRPr>
            </a:pPr>
            <a:r>
              <a:rPr sz="3000" b="1">
                <a:solidFill>
                  <a:srgbClr val="3D8DFF"/>
                </a:solidFill>
                <a:latin typeface="Yu Gothic"/>
                <a:ea typeface="Yu Gothic"/>
                <a:cs typeface="Yu Gothic"/>
              </a:rPr>
              <a:t>教材を生産する道具。</a:t>
            </a:r>
          </a:p>
        </p:txBody>
      </p:sp>
      <p:sp>
        <p:nvSpPr>
          <p:cNvPr id="7" name="">
            <a:extLst xmlns:a="http://schemas.openxmlformats.org/drawingml/2006/main">
              <a:ext uri="{FF2B5EF4-FFF2-40B4-BE49-F238E27FC236}">
                <a16:creationId xmlns:a16="http://schemas.microsoft.com/office/drawing/2014/main" id="{E1DC0895-96A5-4146-A8DB-88960C078F24}"/>
              </a:ext>
            </a:extLst>
          </p:cNvPr>
          <p:cNvSpPr>
            <a:spLocks xmlns:a="http://schemas.openxmlformats.org/drawingml/2006/main" noGrp="1"/>
          </p:cNvSpPr>
          <p:nvPr/>
        </p:nvSpPr>
        <p:spPr>
          <a:xfrm xmlns:a="http://schemas.openxmlformats.org/drawingml/2006/main">
            <a:off x="609600" y="4972050"/>
            <a:ext cx="4191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データを足せる</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テンプレートを一度に直せる</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操作も印刷もできる</a:t>
            </a:r>
          </a:p>
        </p:txBody>
      </p:sp>
      <p:sp>
        <p:nvSpPr>
          <p:cNvPr id="8" name="">
            <a:extLst xmlns:a="http://schemas.openxmlformats.org/drawingml/2006/main">
              <a:ext uri="{FF2B5EF4-FFF2-40B4-BE49-F238E27FC236}">
                <a16:creationId xmlns:a16="http://schemas.microsoft.com/office/drawing/2014/main" id="{87D24410-97C3-400C-A00F-F15CCCB0E79D}"/>
              </a:ext>
            </a:extLst>
          </p:cNvPr>
          <p:cNvSpPr>
            <a:spLocks xmlns:a="http://schemas.openxmlformats.org/drawingml/2006/main" noGrp="1"/>
          </p:cNvSpPr>
          <p:nvPr/>
        </p:nvSpPr>
        <p:spPr>
          <a:xfrm xmlns:a="http://schemas.openxmlformats.org/drawingml/2006/main">
            <a:off x="5219700" y="1676400"/>
            <a:ext cx="6324600" cy="4171950"/>
          </a:xfrm>
          <a:prstGeom xmlns:a="http://schemas.openxmlformats.org/drawingml/2006/main" prst="roundRect">
            <a:avLst>
              <a:gd name="adj" fmla="val 1826"/>
            </a:avLst>
          </a:prstGeom>
          <a:solidFill xmlns:a="http://schemas.openxmlformats.org/drawingml/2006/main">
            <a:srgbClr val="F1F3F5"/>
          </a:solidFill>
          <a:ln xmlns:a="http://schemas.openxmlformats.org/drawingml/2006/main" w="9525">
            <a:solidFill>
              <a:srgbClr val="C6CBD2"/>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7a8786003b54eff"/>
          <a:srcRect xmlns:a="http://schemas.openxmlformats.org/drawingml/2006/main" l="6495" t="0" r="6495" b="0"/>
          <a:stretch xmlns:a="http://schemas.openxmlformats.org/drawingml/2006/main">
            <a:fillRect l="0" t="0" r="0" b="0"/>
          </a:stretch>
        </p:blipFill>
        <p:spPr>
          <a:xfrm xmlns:a="http://schemas.openxmlformats.org/drawingml/2006/main">
            <a:off x="5334000" y="1790700"/>
            <a:ext cx="6096000" cy="3943350"/>
          </a:xfrm>
          <a:prstGeom xmlns:a="http://schemas.openxmlformats.org/drawingml/2006/main" prst="roundRect">
            <a:avLst>
              <a:gd name="adj" fmla="val 1932"/>
            </a:avLst>
          </a:prstGeom>
        </p:spPr>
      </p:pic>
    </p:spTree>
    <p:extLst>
      <p:ext uri="{BB962C8B-B14F-4D97-AF65-F5344CB8AC3E}">
        <p14:creationId xmlns:p14="http://schemas.microsoft.com/office/powerpoint/2010/main" val="2661103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808F7A1-36F7-443C-8416-7EC10FA2EDC5}"/>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3｜漢字サイトの実例</a:t>
            </a:r>
          </a:p>
        </p:txBody>
      </p:sp>
      <p:sp>
        <p:nvSpPr>
          <p:cNvPr id="2" name="">
            <a:extLst xmlns:a="http://schemas.openxmlformats.org/drawingml/2006/main">
              <a:ext uri="{FF2B5EF4-FFF2-40B4-BE49-F238E27FC236}">
                <a16:creationId xmlns:a16="http://schemas.microsoft.com/office/drawing/2014/main" id="{C9D04F24-EFF2-4064-A026-694CC9A96E4E}"/>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最初に決めるのは「何を作らないか」</a:t>
            </a:r>
          </a:p>
        </p:txBody>
      </p:sp>
      <p:cxnSp>
        <p:nvCxnSpPr>
          <p:cNvPr id="14"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079F9956-7773-405C-8226-98AFAC53071B}"/>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09</a:t>
            </a:r>
          </a:p>
        </p:txBody>
      </p:sp>
      <p:sp>
        <p:nvSpPr>
          <p:cNvPr id="5" name="">
            <a:extLst xmlns:a="http://schemas.openxmlformats.org/drawingml/2006/main">
              <a:ext uri="{FF2B5EF4-FFF2-40B4-BE49-F238E27FC236}">
                <a16:creationId xmlns:a16="http://schemas.microsoft.com/office/drawing/2014/main" id="{7D793DB6-8643-4A66-AE3C-10EF925004A3}"/>
              </a:ext>
            </a:extLst>
          </p:cNvPr>
          <p:cNvSpPr>
            <a:spLocks xmlns:a="http://schemas.openxmlformats.org/drawingml/2006/main" noGrp="1"/>
          </p:cNvSpPr>
          <p:nvPr/>
        </p:nvSpPr>
        <p:spPr>
          <a:xfrm xmlns:a="http://schemas.openxmlformats.org/drawingml/2006/main">
            <a:off x="685800" y="1905000"/>
            <a:ext cx="4476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D45D5D"/>
                </a:solidFill>
                <a:latin typeface="Yu Gothic"/>
                <a:ea typeface="Yu Gothic"/>
                <a:cs typeface="Yu Gothic"/>
              </a:defRPr>
            </a:pPr>
            <a:r>
              <a:rPr sz="2400" b="1">
                <a:solidFill>
                  <a:srgbClr val="D45D5D"/>
                </a:solidFill>
                <a:latin typeface="Yu Gothic"/>
                <a:ea typeface="Yu Gothic"/>
                <a:cs typeface="Yu Gothic"/>
              </a:rPr>
              <a:t>今回はやめた</a:t>
            </a:r>
          </a:p>
        </p:txBody>
      </p:sp>
      <p:sp>
        <p:nvSpPr>
          <p:cNvPr id="6" name="">
            <a:extLst xmlns:a="http://schemas.openxmlformats.org/drawingml/2006/main">
              <a:ext uri="{FF2B5EF4-FFF2-40B4-BE49-F238E27FC236}">
                <a16:creationId xmlns:a16="http://schemas.microsoft.com/office/drawing/2014/main" id="{A1B6FA83-8903-4824-8B58-1AFCFA3C9549}"/>
              </a:ext>
            </a:extLst>
          </p:cNvPr>
          <p:cNvSpPr>
            <a:spLocks xmlns:a="http://schemas.openxmlformats.org/drawingml/2006/main" noGrp="1"/>
          </p:cNvSpPr>
          <p:nvPr/>
        </p:nvSpPr>
        <p:spPr>
          <a:xfrm xmlns:a="http://schemas.openxmlformats.org/drawingml/2006/main">
            <a:off x="685800" y="2609850"/>
            <a:ext cx="4476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0">
                <a:solidFill>
                  <a:srgbClr val="5D6470"/>
                </a:solidFill>
                <a:latin typeface="Yu Gothic"/>
                <a:ea typeface="Yu Gothic"/>
                <a:cs typeface="Yu Gothic"/>
              </a:defRPr>
            </a:pPr>
            <a:r>
              <a:rPr sz="2250" b="0">
                <a:solidFill>
                  <a:srgbClr val="5D6470"/>
                </a:solidFill>
                <a:latin typeface="Yu Gothic"/>
                <a:ea typeface="Yu Gothic"/>
                <a:cs typeface="Yu Gothic"/>
              </a:rPr>
              <a:t>学生ログイン</a:t>
            </a:r>
          </a:p>
          <a:p xmlns:a="http://schemas.openxmlformats.org/drawingml/2006/main">
            <a:pPr algn="l">
              <a:defRPr sz="2250" b="0">
                <a:solidFill>
                  <a:srgbClr val="5D6470"/>
                </a:solidFill>
                <a:latin typeface="Yu Gothic"/>
                <a:ea typeface="Yu Gothic"/>
                <a:cs typeface="Yu Gothic"/>
              </a:defRPr>
            </a:pPr>
            <a:r>
              <a:rPr sz="2250" b="0">
                <a:solidFill>
                  <a:srgbClr val="5D6470"/>
                </a:solidFill>
                <a:latin typeface="Yu Gothic"/>
                <a:ea typeface="Yu Gothic"/>
                <a:cs typeface="Yu Gothic"/>
              </a:rPr>
              <a:t>オンライン保存</a:t>
            </a:r>
          </a:p>
          <a:p xmlns:a="http://schemas.openxmlformats.org/drawingml/2006/main">
            <a:pPr algn="l">
              <a:defRPr sz="2250" b="0">
                <a:solidFill>
                  <a:srgbClr val="5D6470"/>
                </a:solidFill>
                <a:latin typeface="Yu Gothic"/>
                <a:ea typeface="Yu Gothic"/>
                <a:cs typeface="Yu Gothic"/>
              </a:defRPr>
            </a:pPr>
            <a:r>
              <a:rPr sz="2250" b="0">
                <a:solidFill>
                  <a:srgbClr val="5D6470"/>
                </a:solidFill>
                <a:latin typeface="Yu Gothic"/>
                <a:ea typeface="Yu Gothic"/>
                <a:cs typeface="Yu Gothic"/>
              </a:rPr>
              <a:t>先生への提出</a:t>
            </a:r>
          </a:p>
          <a:p xmlns:a="http://schemas.openxmlformats.org/drawingml/2006/main">
            <a:pPr algn="l">
              <a:defRPr sz="2250" b="0">
                <a:solidFill>
                  <a:srgbClr val="5D6470"/>
                </a:solidFill>
                <a:latin typeface="Yu Gothic"/>
                <a:ea typeface="Yu Gothic"/>
                <a:cs typeface="Yu Gothic"/>
              </a:defRPr>
            </a:pPr>
            <a:r>
              <a:rPr sz="2250" b="0">
                <a:solidFill>
                  <a:srgbClr val="5D6470"/>
                </a:solidFill>
                <a:latin typeface="Yu Gothic"/>
                <a:ea typeface="Yu Gothic"/>
                <a:cs typeface="Yu Gothic"/>
              </a:rPr>
              <a:t>オンライン添削</a:t>
            </a:r>
          </a:p>
        </p:txBody>
      </p:sp>
      <p:cxnSp>
        <p:nvCxnSpPr>
          <p:cNvPr id="18" name=""/>
          <p:cNvCxnSpPr/>
          <p:nvPr/>
        </p:nvCxnSpPr>
        <p:spPr>
          <a:xfrm xmlns:a="http://schemas.openxmlformats.org/drawingml/2006/main">
            <a:off x="6000750" y="1790700"/>
            <a:ext cx="0" cy="0"/>
          </a:xfrm>
          <a:prstGeom xmlns:a="http://schemas.openxmlformats.org/drawingml/2006/main" prst="straightConnector1">
            <a:avLst/>
          </a:prstGeom>
          <a:ln xmlns:a="http://schemas.openxmlformats.org/drawingml/2006/main" w="9525">
            <a:solidFill>
              <a:srgbClr val="C6CBD2"/>
            </a:solidFill>
            <a:prstDash val="solid"/>
          </a:ln>
        </p:spPr>
      </p:cxnSp>
      <p:sp>
        <p:nvSpPr>
          <p:cNvPr id="8" name="">
            <a:extLst xmlns:a="http://schemas.openxmlformats.org/drawingml/2006/main">
              <a:ext uri="{FF2B5EF4-FFF2-40B4-BE49-F238E27FC236}">
                <a16:creationId xmlns:a16="http://schemas.microsoft.com/office/drawing/2014/main" id="{DCE1AD5D-5B95-44FC-B18D-A1CE1F06368E}"/>
              </a:ext>
            </a:extLst>
          </p:cNvPr>
          <p:cNvSpPr>
            <a:spLocks xmlns:a="http://schemas.openxmlformats.org/drawingml/2006/main" noGrp="1"/>
          </p:cNvSpPr>
          <p:nvPr/>
        </p:nvSpPr>
        <p:spPr>
          <a:xfrm xmlns:a="http://schemas.openxmlformats.org/drawingml/2006/main">
            <a:off x="6572250" y="1905000"/>
            <a:ext cx="4476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3D8DFF"/>
                </a:solidFill>
                <a:latin typeface="Yu Gothic"/>
                <a:ea typeface="Yu Gothic"/>
                <a:cs typeface="Yu Gothic"/>
              </a:defRPr>
            </a:pPr>
            <a:r>
              <a:rPr sz="2400" b="1">
                <a:solidFill>
                  <a:srgbClr val="3D8DFF"/>
                </a:solidFill>
                <a:latin typeface="Yu Gothic"/>
                <a:ea typeface="Yu Gothic"/>
                <a:cs typeface="Yu Gothic"/>
              </a:rPr>
              <a:t>最初に残した</a:t>
            </a:r>
          </a:p>
        </p:txBody>
      </p:sp>
      <p:sp>
        <p:nvSpPr>
          <p:cNvPr id="9" name="">
            <a:extLst xmlns:a="http://schemas.openxmlformats.org/drawingml/2006/main">
              <a:ext uri="{FF2B5EF4-FFF2-40B4-BE49-F238E27FC236}">
                <a16:creationId xmlns:a16="http://schemas.microsoft.com/office/drawing/2014/main" id="{C8696549-8ACD-4605-AEB0-77AEA9A94A4B}"/>
              </a:ext>
            </a:extLst>
          </p:cNvPr>
          <p:cNvSpPr>
            <a:spLocks xmlns:a="http://schemas.openxmlformats.org/drawingml/2006/main" noGrp="1"/>
          </p:cNvSpPr>
          <p:nvPr/>
        </p:nvSpPr>
        <p:spPr>
          <a:xfrm xmlns:a="http://schemas.openxmlformats.org/drawingml/2006/main">
            <a:off x="6572250" y="2609850"/>
            <a:ext cx="4476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繰り返し生成できる</a:t>
            </a:r>
          </a:p>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筆順と練習を見られる</a:t>
            </a:r>
          </a:p>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A4で正しく印刷できる</a:t>
            </a:r>
          </a:p>
        </p:txBody>
      </p:sp>
      <p:sp>
        <p:nvSpPr>
          <p:cNvPr id="10" name="">
            <a:extLst xmlns:a="http://schemas.openxmlformats.org/drawingml/2006/main">
              <a:ext uri="{FF2B5EF4-FFF2-40B4-BE49-F238E27FC236}">
                <a16:creationId xmlns:a16="http://schemas.microsoft.com/office/drawing/2014/main" id="{28A8622D-AC71-441F-8886-109F6FE3400B}"/>
              </a:ext>
            </a:extLst>
          </p:cNvPr>
          <p:cNvSpPr>
            <a:spLocks xmlns:a="http://schemas.openxmlformats.org/drawingml/2006/main" noGrp="1"/>
          </p:cNvSpPr>
          <p:nvPr/>
        </p:nvSpPr>
        <p:spPr>
          <a:xfrm xmlns:a="http://schemas.openxmlformats.org/drawingml/2006/main">
            <a:off x="685800" y="5219700"/>
            <a:ext cx="10363200" cy="762000"/>
          </a:xfrm>
          <a:prstGeom xmlns:a="http://schemas.openxmlformats.org/drawingml/2006/main" prst="roundRect">
            <a:avLst>
              <a:gd name="adj" fmla="val 10000"/>
            </a:avLst>
          </a:prstGeom>
          <a:solidFill xmlns:a="http://schemas.openxmlformats.org/drawingml/2006/main">
            <a:srgbClr val="F1F3F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252DE16-AC68-4F28-9912-E10445739EAA}"/>
              </a:ext>
            </a:extLst>
          </p:cNvPr>
          <p:cNvSpPr>
            <a:spLocks xmlns:a="http://schemas.openxmlformats.org/drawingml/2006/main" noGrp="1"/>
          </p:cNvSpPr>
          <p:nvPr/>
        </p:nvSpPr>
        <p:spPr>
          <a:xfrm xmlns:a="http://schemas.openxmlformats.org/drawingml/2006/main">
            <a:off x="914400" y="54102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111111"/>
                </a:solidFill>
                <a:latin typeface="Yu Gothic"/>
                <a:ea typeface="Yu Gothic"/>
                <a:cs typeface="Yu Gothic"/>
              </a:defRPr>
            </a:pPr>
            <a:r>
              <a:rPr sz="2025" b="1">
                <a:solidFill>
                  <a:srgbClr val="111111"/>
                </a:solidFill>
                <a:latin typeface="Yu Gothic"/>
                <a:ea typeface="Yu Gothic"/>
                <a:cs typeface="Yu Gothic"/>
              </a:rPr>
              <a:t>機能を削る＝失敗ではない。重要な機能を先に完成させる。</a:t>
            </a:r>
          </a:p>
        </p:txBody>
      </p:sp>
    </p:spTree>
    <p:extLst>
      <p:ext uri="{BB962C8B-B14F-4D97-AF65-F5344CB8AC3E}">
        <p14:creationId xmlns:p14="http://schemas.microsoft.com/office/powerpoint/2010/main" val="21318740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63CA3B-B0A9-4753-984C-84EB3F89ED36}"/>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3｜漢字サイトの実例</a:t>
            </a:r>
          </a:p>
        </p:txBody>
      </p:sp>
      <p:sp>
        <p:nvSpPr>
          <p:cNvPr id="2" name="">
            <a:extLst xmlns:a="http://schemas.openxmlformats.org/drawingml/2006/main">
              <a:ext uri="{FF2B5EF4-FFF2-40B4-BE49-F238E27FC236}">
                <a16:creationId xmlns:a16="http://schemas.microsoft.com/office/drawing/2014/main" id="{DA621A85-D5AF-4AA2-BC0E-445B9DDFD9A7}"/>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「中身」と「包み」を分けて考える</a:t>
            </a:r>
          </a:p>
        </p:txBody>
      </p:sp>
      <p:cxnSp>
        <p:nvCxnSpPr>
          <p:cNvPr id="13"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4F56DAA6-110F-43EA-9C7E-EFBD1196F602}"/>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10</a:t>
            </a:r>
          </a:p>
        </p:txBody>
      </p:sp>
      <p:sp>
        <p:nvSpPr>
          <p:cNvPr id="5" name="">
            <a:extLst xmlns:a="http://schemas.openxmlformats.org/drawingml/2006/main">
              <a:ext uri="{FF2B5EF4-FFF2-40B4-BE49-F238E27FC236}">
                <a16:creationId xmlns:a16="http://schemas.microsoft.com/office/drawing/2014/main" id="{00DAFF38-B81E-4823-B554-BE088689BCC4}"/>
              </a:ext>
            </a:extLst>
          </p:cNvPr>
          <p:cNvSpPr>
            <a:spLocks xmlns:a="http://schemas.openxmlformats.org/drawingml/2006/main" noGrp="1"/>
          </p:cNvSpPr>
          <p:nvPr/>
        </p:nvSpPr>
        <p:spPr>
          <a:xfrm xmlns:a="http://schemas.openxmlformats.org/drawingml/2006/main">
            <a:off x="685800" y="1905000"/>
            <a:ext cx="457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3D8DFF"/>
                </a:solidFill>
                <a:latin typeface="Yu Gothic"/>
                <a:ea typeface="Yu Gothic"/>
                <a:cs typeface="Yu Gothic"/>
              </a:defRPr>
            </a:pPr>
            <a:r>
              <a:rPr sz="2400" b="1">
                <a:solidFill>
                  <a:srgbClr val="3D8DFF"/>
                </a:solidFill>
                <a:latin typeface="Yu Gothic"/>
                <a:ea typeface="Yu Gothic"/>
                <a:cs typeface="Yu Gothic"/>
              </a:rPr>
              <a:t>中身｜データ</a:t>
            </a:r>
          </a:p>
        </p:txBody>
      </p:sp>
      <p:sp>
        <p:nvSpPr>
          <p:cNvPr id="6" name="">
            <a:extLst xmlns:a="http://schemas.openxmlformats.org/drawingml/2006/main">
              <a:ext uri="{FF2B5EF4-FFF2-40B4-BE49-F238E27FC236}">
                <a16:creationId xmlns:a16="http://schemas.microsoft.com/office/drawing/2014/main" id="{5C06ACDD-29AD-4530-AFA7-3A722B65C17D}"/>
              </a:ext>
            </a:extLst>
          </p:cNvPr>
          <p:cNvSpPr>
            <a:spLocks xmlns:a="http://schemas.openxmlformats.org/drawingml/2006/main" noGrp="1"/>
          </p:cNvSpPr>
          <p:nvPr/>
        </p:nvSpPr>
        <p:spPr>
          <a:xfrm xmlns:a="http://schemas.openxmlformats.org/drawingml/2006/main">
            <a:off x="685800" y="2686050"/>
            <a:ext cx="45720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漢字リスト</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読み方・例語</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筆画数・筆順パス</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問題・答え</a:t>
            </a:r>
          </a:p>
        </p:txBody>
      </p:sp>
      <p:sp>
        <p:nvSpPr>
          <p:cNvPr id="7" name="">
            <a:extLst xmlns:a="http://schemas.openxmlformats.org/drawingml/2006/main">
              <a:ext uri="{FF2B5EF4-FFF2-40B4-BE49-F238E27FC236}">
                <a16:creationId xmlns:a16="http://schemas.microsoft.com/office/drawing/2014/main" id="{3A9DD68C-D8DF-4167-929C-AF9E8E441D53}"/>
              </a:ext>
            </a:extLst>
          </p:cNvPr>
          <p:cNvSpPr>
            <a:spLocks xmlns:a="http://schemas.openxmlformats.org/drawingml/2006/main" noGrp="1"/>
          </p:cNvSpPr>
          <p:nvPr/>
        </p:nvSpPr>
        <p:spPr>
          <a:xfrm xmlns:a="http://schemas.openxmlformats.org/drawingml/2006/main">
            <a:off x="6572250" y="1905000"/>
            <a:ext cx="457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111111"/>
                </a:solidFill>
                <a:latin typeface="Yu Gothic"/>
                <a:ea typeface="Yu Gothic"/>
                <a:cs typeface="Yu Gothic"/>
              </a:defRPr>
            </a:pPr>
            <a:r>
              <a:rPr sz="2400" b="1">
                <a:solidFill>
                  <a:srgbClr val="111111"/>
                </a:solidFill>
                <a:latin typeface="Yu Gothic"/>
                <a:ea typeface="Yu Gothic"/>
                <a:cs typeface="Yu Gothic"/>
              </a:rPr>
              <a:t>包み｜UIと機能</a:t>
            </a:r>
          </a:p>
        </p:txBody>
      </p:sp>
      <p:sp>
        <p:nvSpPr>
          <p:cNvPr id="8" name="">
            <a:extLst xmlns:a="http://schemas.openxmlformats.org/drawingml/2006/main">
              <a:ext uri="{FF2B5EF4-FFF2-40B4-BE49-F238E27FC236}">
                <a16:creationId xmlns:a16="http://schemas.microsoft.com/office/drawing/2014/main" id="{5D5BBD7B-C32A-4F35-B3A3-BDA491DF60F0}"/>
              </a:ext>
            </a:extLst>
          </p:cNvPr>
          <p:cNvSpPr>
            <a:spLocks xmlns:a="http://schemas.openxmlformats.org/drawingml/2006/main" noGrp="1"/>
          </p:cNvSpPr>
          <p:nvPr/>
        </p:nvSpPr>
        <p:spPr>
          <a:xfrm xmlns:a="http://schemas.openxmlformats.org/drawingml/2006/main">
            <a:off x="6572250" y="2686050"/>
            <a:ext cx="45720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なぞり書き</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筆順アニメーション</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練習／解答モード</a:t>
            </a:r>
          </a:p>
          <a:p xmlns:a="http://schemas.openxmlformats.org/drawingml/2006/main">
            <a:pPr algn="l">
              <a:defRPr sz="2175" b="0">
                <a:solidFill>
                  <a:srgbClr val="111111"/>
                </a:solidFill>
                <a:latin typeface="Yu Gothic"/>
                <a:ea typeface="Yu Gothic"/>
                <a:cs typeface="Yu Gothic"/>
              </a:defRPr>
            </a:pPr>
            <a:r>
              <a:rPr sz="2175" b="0">
                <a:solidFill>
                  <a:srgbClr val="111111"/>
                </a:solidFill>
                <a:latin typeface="Yu Gothic"/>
                <a:ea typeface="Yu Gothic"/>
                <a:cs typeface="Yu Gothic"/>
              </a:rPr>
              <a:t>A4印刷</a:t>
            </a:r>
          </a:p>
        </p:txBody>
      </p:sp>
      <p:cxnSp>
        <p:nvCxnSpPr>
          <p:cNvPr id="19" name=""/>
          <p:cNvCxnSpPr/>
          <p:nvPr/>
        </p:nvCxnSpPr>
        <p:spPr>
          <a:xfrm xmlns:a="http://schemas.openxmlformats.org/drawingml/2006/main">
            <a:off x="5905500" y="1809750"/>
            <a:ext cx="0" cy="0"/>
          </a:xfrm>
          <a:prstGeom xmlns:a="http://schemas.openxmlformats.org/drawingml/2006/main" prst="straightConnector1">
            <a:avLst/>
          </a:prstGeom>
          <a:ln xmlns:a="http://schemas.openxmlformats.org/drawingml/2006/main" w="9525">
            <a:solidFill>
              <a:srgbClr val="C6CBD2"/>
            </a:solidFill>
            <a:prstDash val="solid"/>
          </a:ln>
        </p:spPr>
      </p:cxnSp>
      <p:sp>
        <p:nvSpPr>
          <p:cNvPr id="10" name="">
            <a:extLst xmlns:a="http://schemas.openxmlformats.org/drawingml/2006/main">
              <a:ext uri="{FF2B5EF4-FFF2-40B4-BE49-F238E27FC236}">
                <a16:creationId xmlns:a16="http://schemas.microsoft.com/office/drawing/2014/main" id="{FDADF846-EDB4-480A-B0B9-9BCFA816D78E}"/>
              </a:ext>
            </a:extLst>
          </p:cNvPr>
          <p:cNvSpPr>
            <a:spLocks xmlns:a="http://schemas.openxmlformats.org/drawingml/2006/main" noGrp="1"/>
          </p:cNvSpPr>
          <p:nvPr/>
        </p:nvSpPr>
        <p:spPr>
          <a:xfrm xmlns:a="http://schemas.openxmlformats.org/drawingml/2006/main">
            <a:off x="685800" y="552450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950" b="1">
                <a:solidFill>
                  <a:srgbClr val="D45D5D"/>
                </a:solidFill>
                <a:latin typeface="Yu Gothic"/>
                <a:ea typeface="Yu Gothic"/>
                <a:cs typeface="Yu Gothic"/>
              </a:defRPr>
            </a:pPr>
            <a:r>
              <a:rPr sz="1950" b="1">
                <a:solidFill>
                  <a:srgbClr val="D45D5D"/>
                </a:solidFill>
                <a:latin typeface="Yu Gothic"/>
                <a:ea typeface="Yu Gothic"/>
                <a:cs typeface="Yu Gothic"/>
              </a:rPr>
              <a:t>一番難しかったのは画面ではなく、筆順データ。→ KanjiVG</a:t>
            </a:r>
          </a:p>
        </p:txBody>
      </p:sp>
    </p:spTree>
    <p:extLst>
      <p:ext uri="{BB962C8B-B14F-4D97-AF65-F5344CB8AC3E}">
        <p14:creationId xmlns:p14="http://schemas.microsoft.com/office/powerpoint/2010/main" val="4625443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C52F4D-335D-4828-BA44-BE57596554D8}"/>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3｜漢字サイトの実例</a:t>
            </a:r>
          </a:p>
        </p:txBody>
      </p:sp>
      <p:sp>
        <p:nvSpPr>
          <p:cNvPr id="2" name="">
            <a:extLst xmlns:a="http://schemas.openxmlformats.org/drawingml/2006/main">
              <a:ext uri="{FF2B5EF4-FFF2-40B4-BE49-F238E27FC236}">
                <a16:creationId xmlns:a16="http://schemas.microsoft.com/office/drawing/2014/main" id="{C59713F0-619A-4DCE-824C-797B8CE01AC3}"/>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ChatとAgentは、見えている範囲が違う</a:t>
            </a:r>
          </a:p>
        </p:txBody>
      </p:sp>
      <p:cxnSp>
        <p:nvCxnSpPr>
          <p:cNvPr id="13"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19E19028-221F-4154-BE85-E089FD43C1D6}"/>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11</a:t>
            </a:r>
          </a:p>
        </p:txBody>
      </p:sp>
      <p:sp>
        <p:nvSpPr>
          <p:cNvPr id="5" name="">
            <a:extLst xmlns:a="http://schemas.openxmlformats.org/drawingml/2006/main">
              <a:ext uri="{FF2B5EF4-FFF2-40B4-BE49-F238E27FC236}">
                <a16:creationId xmlns:a16="http://schemas.microsoft.com/office/drawing/2014/main" id="{6BFDBA7B-4597-4321-848D-F848300E0EE8}"/>
              </a:ext>
            </a:extLst>
          </p:cNvPr>
          <p:cNvSpPr>
            <a:spLocks xmlns:a="http://schemas.openxmlformats.org/drawingml/2006/main" noGrp="1"/>
          </p:cNvSpPr>
          <p:nvPr/>
        </p:nvSpPr>
        <p:spPr>
          <a:xfrm xmlns:a="http://schemas.openxmlformats.org/drawingml/2006/main">
            <a:off x="685800" y="190500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一般的なChat</a:t>
            </a:r>
          </a:p>
        </p:txBody>
      </p:sp>
      <p:sp>
        <p:nvSpPr>
          <p:cNvPr id="6" name="">
            <a:extLst xmlns:a="http://schemas.openxmlformats.org/drawingml/2006/main">
              <a:ext uri="{FF2B5EF4-FFF2-40B4-BE49-F238E27FC236}">
                <a16:creationId xmlns:a16="http://schemas.microsoft.com/office/drawing/2014/main" id="{342378EC-470C-4CFF-9AFF-3C9FACC3685A}"/>
              </a:ext>
            </a:extLst>
          </p:cNvPr>
          <p:cNvSpPr>
            <a:spLocks xmlns:a="http://schemas.openxmlformats.org/drawingml/2006/main" noGrp="1"/>
          </p:cNvSpPr>
          <p:nvPr/>
        </p:nvSpPr>
        <p:spPr>
          <a:xfrm xmlns:a="http://schemas.openxmlformats.org/drawingml/2006/main">
            <a:off x="685800" y="2724150"/>
            <a:ext cx="4762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0">
                <a:solidFill>
                  <a:srgbClr val="5D6470"/>
                </a:solidFill>
                <a:latin typeface="Yu Gothic"/>
                <a:ea typeface="Yu Gothic"/>
                <a:cs typeface="Yu Gothic"/>
              </a:defRPr>
            </a:pPr>
            <a:r>
              <a:rPr sz="2025" b="0">
                <a:solidFill>
                  <a:srgbClr val="5D6470"/>
                </a:solidFill>
                <a:latin typeface="Yu Gothic"/>
                <a:ea typeface="Yu Gothic"/>
                <a:cs typeface="Yu Gothic"/>
              </a:rPr>
              <a:t>渡した内容をもとに回答</a:t>
            </a:r>
          </a:p>
          <a:p xmlns:a="http://schemas.openxmlformats.org/drawingml/2006/main">
            <a:pPr algn="l">
              <a:defRPr sz="2025" b="0">
                <a:solidFill>
                  <a:srgbClr val="5D6470"/>
                </a:solidFill>
                <a:latin typeface="Yu Gothic"/>
                <a:ea typeface="Yu Gothic"/>
                <a:cs typeface="Yu Gothic"/>
              </a:defRPr>
            </a:pPr>
            <a:r>
              <a:rPr sz="2025" b="0">
                <a:solidFill>
                  <a:srgbClr val="5D6470"/>
                </a:solidFill>
                <a:latin typeface="Yu Gothic"/>
                <a:ea typeface="Yu Gothic"/>
                <a:cs typeface="Yu Gothic"/>
              </a:rPr>
              <a:t>一段のコードを生成</a:t>
            </a:r>
          </a:p>
          <a:p xmlns:a="http://schemas.openxmlformats.org/drawingml/2006/main">
            <a:pPr algn="l">
              <a:defRPr sz="2025" b="0">
                <a:solidFill>
                  <a:srgbClr val="5D6470"/>
                </a:solidFill>
                <a:latin typeface="Yu Gothic"/>
                <a:ea typeface="Yu Gothic"/>
                <a:cs typeface="Yu Gothic"/>
              </a:defRPr>
            </a:pPr>
            <a:r>
              <a:rPr sz="2025" b="0">
                <a:solidFill>
                  <a:srgbClr val="5D6470"/>
                </a:solidFill>
                <a:latin typeface="Yu Gothic"/>
                <a:ea typeface="Yu Gothic"/>
                <a:cs typeface="Yu Gothic"/>
              </a:rPr>
              <a:t>利用者がコピーして戻す</a:t>
            </a:r>
          </a:p>
          <a:p xmlns:a="http://schemas.openxmlformats.org/drawingml/2006/main">
            <a:pPr algn="l">
              <a:defRPr sz="2025" b="0">
                <a:solidFill>
                  <a:srgbClr val="5D6470"/>
                </a:solidFill>
                <a:latin typeface="Yu Gothic"/>
                <a:ea typeface="Yu Gothic"/>
                <a:cs typeface="Yu Gothic"/>
              </a:defRPr>
            </a:pPr>
            <a:r>
              <a:rPr sz="2025" b="0">
                <a:solidFill>
                  <a:srgbClr val="5D6470"/>
                </a:solidFill>
                <a:latin typeface="Yu Gothic"/>
                <a:ea typeface="Yu Gothic"/>
                <a:cs typeface="Yu Gothic"/>
              </a:rPr>
              <a:t>発想・整理・単発質問に向く</a:t>
            </a:r>
          </a:p>
        </p:txBody>
      </p:sp>
      <p:sp>
        <p:nvSpPr>
          <p:cNvPr id="7" name="">
            <a:extLst xmlns:a="http://schemas.openxmlformats.org/drawingml/2006/main">
              <a:ext uri="{FF2B5EF4-FFF2-40B4-BE49-F238E27FC236}">
                <a16:creationId xmlns:a16="http://schemas.microsoft.com/office/drawing/2014/main" id="{58F06768-7E44-45BF-870E-3F74C2B6BDDB}"/>
              </a:ext>
            </a:extLst>
          </p:cNvPr>
          <p:cNvSpPr>
            <a:spLocks xmlns:a="http://schemas.openxmlformats.org/drawingml/2006/main" noGrp="1"/>
          </p:cNvSpPr>
          <p:nvPr/>
        </p:nvSpPr>
        <p:spPr>
          <a:xfrm xmlns:a="http://schemas.openxmlformats.org/drawingml/2006/main">
            <a:off x="6496050" y="190500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3D8DFF"/>
                </a:solidFill>
                <a:latin typeface="Yu Gothic"/>
                <a:ea typeface="Yu Gothic"/>
                <a:cs typeface="Yu Gothic"/>
              </a:defRPr>
            </a:pPr>
            <a:r>
              <a:rPr sz="2550" b="1">
                <a:solidFill>
                  <a:srgbClr val="3D8DFF"/>
                </a:solidFill>
                <a:latin typeface="Yu Gothic"/>
                <a:ea typeface="Yu Gothic"/>
                <a:cs typeface="Yu Gothic"/>
              </a:rPr>
              <a:t>Claude Code／Agent</a:t>
            </a:r>
          </a:p>
        </p:txBody>
      </p:sp>
      <p:sp>
        <p:nvSpPr>
          <p:cNvPr id="8" name="">
            <a:extLst xmlns:a="http://schemas.openxmlformats.org/drawingml/2006/main">
              <a:ext uri="{FF2B5EF4-FFF2-40B4-BE49-F238E27FC236}">
                <a16:creationId xmlns:a16="http://schemas.microsoft.com/office/drawing/2014/main" id="{A2A4E29B-C407-45F2-BF01-8694F6830F8E}"/>
              </a:ext>
            </a:extLst>
          </p:cNvPr>
          <p:cNvSpPr>
            <a:spLocks xmlns:a="http://schemas.openxmlformats.org/drawingml/2006/main" noGrp="1"/>
          </p:cNvSpPr>
          <p:nvPr/>
        </p:nvSpPr>
        <p:spPr>
          <a:xfrm xmlns:a="http://schemas.openxmlformats.org/drawingml/2006/main">
            <a:off x="6496050" y="2724150"/>
            <a:ext cx="4762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0">
                <a:solidFill>
                  <a:srgbClr val="111111"/>
                </a:solidFill>
                <a:latin typeface="Yu Gothic"/>
                <a:ea typeface="Yu Gothic"/>
                <a:cs typeface="Yu Gothic"/>
              </a:defRPr>
            </a:pPr>
            <a:r>
              <a:rPr sz="2025" b="0">
                <a:solidFill>
                  <a:srgbClr val="111111"/>
                </a:solidFill>
                <a:latin typeface="Yu Gothic"/>
                <a:ea typeface="Yu Gothic"/>
                <a:cs typeface="Yu Gothic"/>
              </a:rPr>
              <a:t>プロジェクト全体を探索</a:t>
            </a:r>
          </a:p>
          <a:p xmlns:a="http://schemas.openxmlformats.org/drawingml/2006/main">
            <a:pPr algn="l">
              <a:defRPr sz="2025" b="0">
                <a:solidFill>
                  <a:srgbClr val="111111"/>
                </a:solidFill>
                <a:latin typeface="Yu Gothic"/>
                <a:ea typeface="Yu Gothic"/>
                <a:cs typeface="Yu Gothic"/>
              </a:defRPr>
            </a:pPr>
            <a:r>
              <a:rPr sz="2025" b="0">
                <a:solidFill>
                  <a:srgbClr val="111111"/>
                </a:solidFill>
                <a:latin typeface="Yu Gothic"/>
                <a:ea typeface="Yu Gothic"/>
                <a:cs typeface="Yu Gothic"/>
              </a:rPr>
              <a:t>複数ファイルを直接修正</a:t>
            </a:r>
          </a:p>
          <a:p xmlns:a="http://schemas.openxmlformats.org/drawingml/2006/main">
            <a:pPr algn="l">
              <a:defRPr sz="2025" b="0">
                <a:solidFill>
                  <a:srgbClr val="111111"/>
                </a:solidFill>
                <a:latin typeface="Yu Gothic"/>
                <a:ea typeface="Yu Gothic"/>
                <a:cs typeface="Yu Gothic"/>
              </a:defRPr>
            </a:pPr>
            <a:r>
              <a:rPr sz="2025" b="0">
                <a:solidFill>
                  <a:srgbClr val="111111"/>
                </a:solidFill>
                <a:latin typeface="Yu Gothic"/>
                <a:ea typeface="Yu Gothic"/>
                <a:cs typeface="Yu Gothic"/>
              </a:rPr>
              <a:t>チェックやテストを実行</a:t>
            </a:r>
          </a:p>
          <a:p xmlns:a="http://schemas.openxmlformats.org/drawingml/2006/main">
            <a:pPr algn="l">
              <a:defRPr sz="2025" b="0">
                <a:solidFill>
                  <a:srgbClr val="111111"/>
                </a:solidFill>
                <a:latin typeface="Yu Gothic"/>
                <a:ea typeface="Yu Gothic"/>
                <a:cs typeface="Yu Gothic"/>
              </a:defRPr>
            </a:pPr>
            <a:r>
              <a:rPr sz="2025" b="0">
                <a:solidFill>
                  <a:srgbClr val="111111"/>
                </a:solidFill>
                <a:latin typeface="Yu Gothic"/>
                <a:ea typeface="Yu Gothic"/>
                <a:cs typeface="Yu Gothic"/>
              </a:rPr>
              <a:t>継続開発・修正に向く</a:t>
            </a:r>
          </a:p>
        </p:txBody>
      </p:sp>
      <p:cxnSp>
        <p:nvCxnSpPr>
          <p:cNvPr id="19" name=""/>
          <p:cNvCxnSpPr/>
          <p:nvPr/>
        </p:nvCxnSpPr>
        <p:spPr>
          <a:xfrm xmlns:a="http://schemas.openxmlformats.org/drawingml/2006/main">
            <a:off x="5981700" y="1809750"/>
            <a:ext cx="0" cy="0"/>
          </a:xfrm>
          <a:prstGeom xmlns:a="http://schemas.openxmlformats.org/drawingml/2006/main" prst="straightConnector1">
            <a:avLst/>
          </a:prstGeom>
          <a:ln xmlns:a="http://schemas.openxmlformats.org/drawingml/2006/main" w="9525">
            <a:solidFill>
              <a:srgbClr val="C6CBD2"/>
            </a:solidFill>
            <a:prstDash val="solid"/>
          </a:ln>
        </p:spPr>
      </p:cxnSp>
      <p:sp>
        <p:nvSpPr>
          <p:cNvPr id="10" name="">
            <a:extLst xmlns:a="http://schemas.openxmlformats.org/drawingml/2006/main">
              <a:ext uri="{FF2B5EF4-FFF2-40B4-BE49-F238E27FC236}">
                <a16:creationId xmlns:a16="http://schemas.microsoft.com/office/drawing/2014/main" id="{E1E1D455-A5C3-44D6-BC74-7B96FB17D6DF}"/>
              </a:ext>
            </a:extLst>
          </p:cNvPr>
          <p:cNvSpPr>
            <a:spLocks xmlns:a="http://schemas.openxmlformats.org/drawingml/2006/main" noGrp="1"/>
          </p:cNvSpPr>
          <p:nvPr/>
        </p:nvSpPr>
        <p:spPr>
          <a:xfrm xmlns:a="http://schemas.openxmlformats.org/drawingml/2006/main">
            <a:off x="685800" y="55054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必要なのはコマンドではなく、目的・判断・フィードバック。</a:t>
            </a:r>
          </a:p>
        </p:txBody>
      </p:sp>
    </p:spTree>
    <p:extLst>
      <p:ext uri="{BB962C8B-B14F-4D97-AF65-F5344CB8AC3E}">
        <p14:creationId xmlns:p14="http://schemas.microsoft.com/office/powerpoint/2010/main" val="15467042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FF30785-E179-46CF-828A-714063B20072}"/>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3｜実演</a:t>
            </a:r>
          </a:p>
        </p:txBody>
      </p:sp>
      <p:sp>
        <p:nvSpPr>
          <p:cNvPr id="2" name="">
            <a:extLst xmlns:a="http://schemas.openxmlformats.org/drawingml/2006/main">
              <a:ext uri="{FF2B5EF4-FFF2-40B4-BE49-F238E27FC236}">
                <a16:creationId xmlns:a16="http://schemas.microsoft.com/office/drawing/2014/main" id="{050A9591-AE36-4C6B-ADEF-5CA4ED9A579E}"/>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Claude Codeは、4回すり合わせる</a:t>
            </a:r>
          </a:p>
        </p:txBody>
      </p:sp>
      <p:cxnSp>
        <p:nvCxnSpPr>
          <p:cNvPr id="24"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BB7705D8-36A2-43F0-8EE9-EC6910367539}"/>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12</a:t>
            </a:r>
          </a:p>
        </p:txBody>
      </p:sp>
      <p:sp>
        <p:nvSpPr>
          <p:cNvPr id="5" name="">
            <a:extLst xmlns:a="http://schemas.openxmlformats.org/drawingml/2006/main">
              <a:ext uri="{FF2B5EF4-FFF2-40B4-BE49-F238E27FC236}">
                <a16:creationId xmlns:a16="http://schemas.microsoft.com/office/drawing/2014/main" id="{766DFF5A-19D9-4496-BDD8-B10008399873}"/>
              </a:ext>
            </a:extLst>
          </p:cNvPr>
          <p:cNvSpPr>
            <a:spLocks xmlns:a="http://schemas.openxmlformats.org/drawingml/2006/main" noGrp="1"/>
          </p:cNvSpPr>
          <p:nvPr/>
        </p:nvSpPr>
        <p:spPr>
          <a:xfrm xmlns:a="http://schemas.openxmlformats.org/drawingml/2006/main">
            <a:off x="590550" y="1952625"/>
            <a:ext cx="685800" cy="685800"/>
          </a:xfrm>
          <a:prstGeom xmlns:a="http://schemas.openxmlformats.org/drawingml/2006/main" prst="roundRect">
            <a:avLst>
              <a:gd name="adj" fmla="val 50000"/>
            </a:avLst>
          </a:prstGeom>
          <a:solidFill xmlns:a="http://schemas.openxmlformats.org/drawingml/2006/main">
            <a:srgbClr val="111111"/>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2850" b="1">
                <a:solidFill>
                  <a:srgbClr val="FFFFFF"/>
                </a:solidFill>
                <a:latin typeface="Yu Gothic"/>
                <a:ea typeface="Yu Gothic"/>
                <a:cs typeface="Yu Gothic"/>
              </a:defRPr>
            </a:pPr>
            <a:r>
              <a:rPr sz="2850" b="1">
                <a:solidFill>
                  <a:srgbClr val="FFFFFF"/>
                </a:solidFill>
                <a:latin typeface="Yu Gothic"/>
                <a:ea typeface="Yu Gothic"/>
                <a:cs typeface="Yu Gothic"/>
              </a:rPr>
              <a:t>1</a:t>
            </a:r>
          </a:p>
        </p:txBody>
      </p:sp>
      <p:sp>
        <p:nvSpPr>
          <p:cNvPr id="6" name="">
            <a:extLst xmlns:a="http://schemas.openxmlformats.org/drawingml/2006/main">
              <a:ext uri="{FF2B5EF4-FFF2-40B4-BE49-F238E27FC236}">
                <a16:creationId xmlns:a16="http://schemas.microsoft.com/office/drawing/2014/main" id="{4FB698A1-97FF-4429-9E56-4521FA37B0F3}"/>
              </a:ext>
            </a:extLst>
          </p:cNvPr>
          <p:cNvSpPr>
            <a:spLocks xmlns:a="http://schemas.openxmlformats.org/drawingml/2006/main" noGrp="1"/>
          </p:cNvSpPr>
          <p:nvPr/>
        </p:nvSpPr>
        <p:spPr>
          <a:xfrm xmlns:a="http://schemas.openxmlformats.org/drawingml/2006/main">
            <a:off x="590550" y="29527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理解</a:t>
            </a:r>
          </a:p>
        </p:txBody>
      </p:sp>
      <p:sp>
        <p:nvSpPr>
          <p:cNvPr id="7" name="">
            <a:extLst xmlns:a="http://schemas.openxmlformats.org/drawingml/2006/main">
              <a:ext uri="{FF2B5EF4-FFF2-40B4-BE49-F238E27FC236}">
                <a16:creationId xmlns:a16="http://schemas.microsoft.com/office/drawing/2014/main" id="{9D95023B-6327-489F-B182-2426128F648C}"/>
              </a:ext>
            </a:extLst>
          </p:cNvPr>
          <p:cNvSpPr>
            <a:spLocks xmlns:a="http://schemas.openxmlformats.org/drawingml/2006/main" noGrp="1"/>
          </p:cNvSpPr>
          <p:nvPr/>
        </p:nvSpPr>
        <p:spPr>
          <a:xfrm xmlns:a="http://schemas.openxmlformats.org/drawingml/2006/main">
            <a:off x="590550" y="3638550"/>
            <a:ext cx="2381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まだ変更しない</a:t>
            </a:r>
          </a:p>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構造を説明してもらう</a:t>
            </a:r>
          </a:p>
        </p:txBody>
      </p:sp>
      <p:cxnSp>
        <p:nvCxnSpPr>
          <p:cNvPr id="29" name=""/>
          <p:cNvCxnSpPr/>
          <p:nvPr/>
        </p:nvCxnSpPr>
        <p:spPr>
          <a:xfrm xmlns:a="http://schemas.openxmlformats.org/drawingml/2006/main">
            <a:off x="1447800" y="2286000"/>
            <a:ext cx="1771650" cy="0"/>
          </a:xfrm>
          <a:prstGeom xmlns:a="http://schemas.openxmlformats.org/drawingml/2006/main" prst="straightConnector1">
            <a:avLst/>
          </a:prstGeom>
          <a:ln xmlns:a="http://schemas.openxmlformats.org/drawingml/2006/main" w="28575">
            <a:solidFill>
              <a:srgbClr val="C6CBD2"/>
            </a:solidFill>
            <a:prstDash val="solid"/>
          </a:ln>
        </p:spPr>
      </p:cxnSp>
      <p:sp>
        <p:nvSpPr>
          <p:cNvPr id="9" name="">
            <a:extLst xmlns:a="http://schemas.openxmlformats.org/drawingml/2006/main">
              <a:ext uri="{FF2B5EF4-FFF2-40B4-BE49-F238E27FC236}">
                <a16:creationId xmlns:a16="http://schemas.microsoft.com/office/drawing/2014/main" id="{6FC6E602-BD42-47FD-9E7E-B0363E56BAEA}"/>
              </a:ext>
            </a:extLst>
          </p:cNvPr>
          <p:cNvSpPr>
            <a:spLocks xmlns:a="http://schemas.openxmlformats.org/drawingml/2006/main" noGrp="1"/>
          </p:cNvSpPr>
          <p:nvPr/>
        </p:nvSpPr>
        <p:spPr>
          <a:xfrm xmlns:a="http://schemas.openxmlformats.org/drawingml/2006/main">
            <a:off x="3429000" y="1952625"/>
            <a:ext cx="685800" cy="685800"/>
          </a:xfrm>
          <a:prstGeom xmlns:a="http://schemas.openxmlformats.org/drawingml/2006/main" prst="roundRect">
            <a:avLst>
              <a:gd name="adj" fmla="val 50000"/>
            </a:avLst>
          </a:prstGeom>
          <a:solidFill xmlns:a="http://schemas.openxmlformats.org/drawingml/2006/main">
            <a:srgbClr val="111111"/>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2850" b="1">
                <a:solidFill>
                  <a:srgbClr val="FFFFFF"/>
                </a:solidFill>
                <a:latin typeface="Yu Gothic"/>
                <a:ea typeface="Yu Gothic"/>
                <a:cs typeface="Yu Gothic"/>
              </a:defRPr>
            </a:pPr>
            <a:r>
              <a:rPr sz="2850" b="1">
                <a:solidFill>
                  <a:srgbClr val="FFFFFF"/>
                </a:solidFill>
                <a:latin typeface="Yu Gothic"/>
                <a:ea typeface="Yu Gothic"/>
                <a:cs typeface="Yu Gothic"/>
              </a:rPr>
              <a:t>2</a:t>
            </a:r>
          </a:p>
        </p:txBody>
      </p:sp>
      <p:sp>
        <p:nvSpPr>
          <p:cNvPr id="10" name="">
            <a:extLst xmlns:a="http://schemas.openxmlformats.org/drawingml/2006/main">
              <a:ext uri="{FF2B5EF4-FFF2-40B4-BE49-F238E27FC236}">
                <a16:creationId xmlns:a16="http://schemas.microsoft.com/office/drawing/2014/main" id="{EBE25293-76A1-497F-A4A7-2725E0F3253D}"/>
              </a:ext>
            </a:extLst>
          </p:cNvPr>
          <p:cNvSpPr>
            <a:spLocks xmlns:a="http://schemas.openxmlformats.org/drawingml/2006/main" noGrp="1"/>
          </p:cNvSpPr>
          <p:nvPr/>
        </p:nvSpPr>
        <p:spPr>
          <a:xfrm xmlns:a="http://schemas.openxmlformats.org/drawingml/2006/main">
            <a:off x="3429000" y="29527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提案</a:t>
            </a:r>
          </a:p>
        </p:txBody>
      </p:sp>
      <p:sp>
        <p:nvSpPr>
          <p:cNvPr id="11" name="">
            <a:extLst xmlns:a="http://schemas.openxmlformats.org/drawingml/2006/main">
              <a:ext uri="{FF2B5EF4-FFF2-40B4-BE49-F238E27FC236}">
                <a16:creationId xmlns:a16="http://schemas.microsoft.com/office/drawing/2014/main" id="{763BD91C-A0E4-40FD-A97C-C362B2A49267}"/>
              </a:ext>
            </a:extLst>
          </p:cNvPr>
          <p:cNvSpPr>
            <a:spLocks xmlns:a="http://schemas.openxmlformats.org/drawingml/2006/main" noGrp="1"/>
          </p:cNvSpPr>
          <p:nvPr/>
        </p:nvSpPr>
        <p:spPr>
          <a:xfrm xmlns:a="http://schemas.openxmlformats.org/drawingml/2006/main">
            <a:off x="3429000" y="3638550"/>
            <a:ext cx="2381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最小の修正案を</a:t>
            </a:r>
          </a:p>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先に出してもらう</a:t>
            </a:r>
          </a:p>
        </p:txBody>
      </p:sp>
      <p:cxnSp>
        <p:nvCxnSpPr>
          <p:cNvPr id="33" name=""/>
          <p:cNvCxnSpPr/>
          <p:nvPr/>
        </p:nvCxnSpPr>
        <p:spPr>
          <a:xfrm xmlns:a="http://schemas.openxmlformats.org/drawingml/2006/main">
            <a:off x="4286250" y="2286000"/>
            <a:ext cx="1771650" cy="0"/>
          </a:xfrm>
          <a:prstGeom xmlns:a="http://schemas.openxmlformats.org/drawingml/2006/main" prst="straightConnector1">
            <a:avLst/>
          </a:prstGeom>
          <a:ln xmlns:a="http://schemas.openxmlformats.org/drawingml/2006/main" w="28575">
            <a:solidFill>
              <a:srgbClr val="C6CBD2"/>
            </a:solidFill>
            <a:prstDash val="solid"/>
          </a:ln>
        </p:spPr>
      </p:cxnSp>
      <p:sp>
        <p:nvSpPr>
          <p:cNvPr id="13" name="">
            <a:extLst xmlns:a="http://schemas.openxmlformats.org/drawingml/2006/main">
              <a:ext uri="{FF2B5EF4-FFF2-40B4-BE49-F238E27FC236}">
                <a16:creationId xmlns:a16="http://schemas.microsoft.com/office/drawing/2014/main" id="{70EF7A2D-5530-45E1-AA61-41FCD25185FC}"/>
              </a:ext>
            </a:extLst>
          </p:cNvPr>
          <p:cNvSpPr>
            <a:spLocks xmlns:a="http://schemas.openxmlformats.org/drawingml/2006/main" noGrp="1"/>
          </p:cNvSpPr>
          <p:nvPr/>
        </p:nvSpPr>
        <p:spPr>
          <a:xfrm xmlns:a="http://schemas.openxmlformats.org/drawingml/2006/main">
            <a:off x="6267450" y="1952625"/>
            <a:ext cx="685800" cy="685800"/>
          </a:xfrm>
          <a:prstGeom xmlns:a="http://schemas.openxmlformats.org/drawingml/2006/main" prst="roundRect">
            <a:avLst>
              <a:gd name="adj" fmla="val 50000"/>
            </a:avLst>
          </a:prstGeom>
          <a:solidFill xmlns:a="http://schemas.openxmlformats.org/drawingml/2006/main">
            <a:srgbClr val="111111"/>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2850" b="1">
                <a:solidFill>
                  <a:srgbClr val="FFFFFF"/>
                </a:solidFill>
                <a:latin typeface="Yu Gothic"/>
                <a:ea typeface="Yu Gothic"/>
                <a:cs typeface="Yu Gothic"/>
              </a:defRPr>
            </a:pPr>
            <a:r>
              <a:rPr sz="2850" b="1">
                <a:solidFill>
                  <a:srgbClr val="FFFFFF"/>
                </a:solidFill>
                <a:latin typeface="Yu Gothic"/>
                <a:ea typeface="Yu Gothic"/>
                <a:cs typeface="Yu Gothic"/>
              </a:rPr>
              <a:t>3</a:t>
            </a:r>
          </a:p>
        </p:txBody>
      </p:sp>
      <p:sp>
        <p:nvSpPr>
          <p:cNvPr id="14" name="">
            <a:extLst xmlns:a="http://schemas.openxmlformats.org/drawingml/2006/main">
              <a:ext uri="{FF2B5EF4-FFF2-40B4-BE49-F238E27FC236}">
                <a16:creationId xmlns:a16="http://schemas.microsoft.com/office/drawing/2014/main" id="{37461F4B-5E46-405C-8301-E762989C638E}"/>
              </a:ext>
            </a:extLst>
          </p:cNvPr>
          <p:cNvSpPr>
            <a:spLocks xmlns:a="http://schemas.openxmlformats.org/drawingml/2006/main" noGrp="1"/>
          </p:cNvSpPr>
          <p:nvPr/>
        </p:nvSpPr>
        <p:spPr>
          <a:xfrm xmlns:a="http://schemas.openxmlformats.org/drawingml/2006/main">
            <a:off x="6267450" y="29527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実行</a:t>
            </a:r>
          </a:p>
        </p:txBody>
      </p:sp>
      <p:sp>
        <p:nvSpPr>
          <p:cNvPr id="15" name="">
            <a:extLst xmlns:a="http://schemas.openxmlformats.org/drawingml/2006/main">
              <a:ext uri="{FF2B5EF4-FFF2-40B4-BE49-F238E27FC236}">
                <a16:creationId xmlns:a16="http://schemas.microsoft.com/office/drawing/2014/main" id="{A9A73E21-94B2-43AE-8574-109C75350A7F}"/>
              </a:ext>
            </a:extLst>
          </p:cNvPr>
          <p:cNvSpPr>
            <a:spLocks xmlns:a="http://schemas.openxmlformats.org/drawingml/2006/main" noGrp="1"/>
          </p:cNvSpPr>
          <p:nvPr/>
        </p:nvSpPr>
        <p:spPr>
          <a:xfrm xmlns:a="http://schemas.openxmlformats.org/drawingml/2006/main">
            <a:off x="6267450" y="3638550"/>
            <a:ext cx="2381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確認後に修正し</a:t>
            </a:r>
          </a:p>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影響をチェックする</a:t>
            </a:r>
          </a:p>
        </p:txBody>
      </p:sp>
      <p:cxnSp>
        <p:nvCxnSpPr>
          <p:cNvPr id="37" name=""/>
          <p:cNvCxnSpPr/>
          <p:nvPr/>
        </p:nvCxnSpPr>
        <p:spPr>
          <a:xfrm xmlns:a="http://schemas.openxmlformats.org/drawingml/2006/main">
            <a:off x="7124700" y="2286000"/>
            <a:ext cx="1771650" cy="0"/>
          </a:xfrm>
          <a:prstGeom xmlns:a="http://schemas.openxmlformats.org/drawingml/2006/main" prst="straightConnector1">
            <a:avLst/>
          </a:prstGeom>
          <a:ln xmlns:a="http://schemas.openxmlformats.org/drawingml/2006/main" w="28575">
            <a:solidFill>
              <a:srgbClr val="C6CBD2"/>
            </a:solidFill>
            <a:prstDash val="solid"/>
          </a:ln>
        </p:spPr>
      </p:cxnSp>
      <p:sp>
        <p:nvSpPr>
          <p:cNvPr id="17" name="">
            <a:extLst xmlns:a="http://schemas.openxmlformats.org/drawingml/2006/main">
              <a:ext uri="{FF2B5EF4-FFF2-40B4-BE49-F238E27FC236}">
                <a16:creationId xmlns:a16="http://schemas.microsoft.com/office/drawing/2014/main" id="{00A25A7F-8F2E-483D-9432-FFFA347369D0}"/>
              </a:ext>
            </a:extLst>
          </p:cNvPr>
          <p:cNvSpPr>
            <a:spLocks xmlns:a="http://schemas.openxmlformats.org/drawingml/2006/main" noGrp="1"/>
          </p:cNvSpPr>
          <p:nvPr/>
        </p:nvSpPr>
        <p:spPr>
          <a:xfrm xmlns:a="http://schemas.openxmlformats.org/drawingml/2006/main">
            <a:off x="9105900" y="1952625"/>
            <a:ext cx="685800" cy="685800"/>
          </a:xfrm>
          <a:prstGeom xmlns:a="http://schemas.openxmlformats.org/drawingml/2006/main" prst="roundRect">
            <a:avLst>
              <a:gd name="adj" fmla="val 50000"/>
            </a:avLst>
          </a:prstGeom>
          <a:solidFill xmlns:a="http://schemas.openxmlformats.org/drawingml/2006/main">
            <a:srgbClr val="3D8DFF"/>
          </a:solidFill>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2850" b="1">
                <a:solidFill>
                  <a:srgbClr val="FFFFFF"/>
                </a:solidFill>
                <a:latin typeface="Yu Gothic"/>
                <a:ea typeface="Yu Gothic"/>
                <a:cs typeface="Yu Gothic"/>
              </a:defRPr>
            </a:pPr>
            <a:r>
              <a:rPr sz="2850" b="1">
                <a:solidFill>
                  <a:srgbClr val="FFFFFF"/>
                </a:solidFill>
                <a:latin typeface="Yu Gothic"/>
                <a:ea typeface="Yu Gothic"/>
                <a:cs typeface="Yu Gothic"/>
              </a:rPr>
              <a:t>4</a:t>
            </a:r>
          </a:p>
        </p:txBody>
      </p:sp>
      <p:sp>
        <p:nvSpPr>
          <p:cNvPr id="18" name="">
            <a:extLst xmlns:a="http://schemas.openxmlformats.org/drawingml/2006/main">
              <a:ext uri="{FF2B5EF4-FFF2-40B4-BE49-F238E27FC236}">
                <a16:creationId xmlns:a16="http://schemas.microsoft.com/office/drawing/2014/main" id="{E0E60E64-CAF8-4946-A1B8-010495EC58A7}"/>
              </a:ext>
            </a:extLst>
          </p:cNvPr>
          <p:cNvSpPr>
            <a:spLocks xmlns:a="http://schemas.openxmlformats.org/drawingml/2006/main" noGrp="1"/>
          </p:cNvSpPr>
          <p:nvPr/>
        </p:nvSpPr>
        <p:spPr>
          <a:xfrm xmlns:a="http://schemas.openxmlformats.org/drawingml/2006/main">
            <a:off x="9105900" y="29527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再調整</a:t>
            </a:r>
          </a:p>
        </p:txBody>
      </p:sp>
      <p:sp>
        <p:nvSpPr>
          <p:cNvPr id="19" name="">
            <a:extLst xmlns:a="http://schemas.openxmlformats.org/drawingml/2006/main">
              <a:ext uri="{FF2B5EF4-FFF2-40B4-BE49-F238E27FC236}">
                <a16:creationId xmlns:a16="http://schemas.microsoft.com/office/drawing/2014/main" id="{563697AE-AF4D-4F72-919E-4C98BD09AC6D}"/>
              </a:ext>
            </a:extLst>
          </p:cNvPr>
          <p:cNvSpPr>
            <a:spLocks xmlns:a="http://schemas.openxmlformats.org/drawingml/2006/main" noGrp="1"/>
          </p:cNvSpPr>
          <p:nvPr/>
        </p:nvSpPr>
        <p:spPr>
          <a:xfrm xmlns:a="http://schemas.openxmlformats.org/drawingml/2006/main">
            <a:off x="9105900" y="3638550"/>
            <a:ext cx="2381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実物を見て</a:t>
            </a:r>
          </a:p>
          <a:p xmlns:a="http://schemas.openxmlformats.org/drawingml/2006/main">
            <a:pPr algn="l">
              <a:defRPr sz="1725" b="0">
                <a:solidFill>
                  <a:srgbClr val="5D6470"/>
                </a:solidFill>
                <a:latin typeface="Yu Gothic"/>
                <a:ea typeface="Yu Gothic"/>
                <a:cs typeface="Yu Gothic"/>
              </a:defRPr>
            </a:pPr>
            <a:r>
              <a:rPr sz="1725" b="0">
                <a:solidFill>
                  <a:srgbClr val="5D6470"/>
                </a:solidFill>
                <a:latin typeface="Yu Gothic"/>
                <a:ea typeface="Yu Gothic"/>
                <a:cs typeface="Yu Gothic"/>
              </a:rPr>
              <a:t>普通の言葉で直す</a:t>
            </a:r>
          </a:p>
        </p:txBody>
      </p:sp>
      <p:sp>
        <p:nvSpPr>
          <p:cNvPr id="20" name="">
            <a:extLst xmlns:a="http://schemas.openxmlformats.org/drawingml/2006/main">
              <a:ext uri="{FF2B5EF4-FFF2-40B4-BE49-F238E27FC236}">
                <a16:creationId xmlns:a16="http://schemas.microsoft.com/office/drawing/2014/main" id="{A3B3F4AD-747E-4425-BBC3-629CCFB32F9B}"/>
              </a:ext>
            </a:extLst>
          </p:cNvPr>
          <p:cNvSpPr>
            <a:spLocks xmlns:a="http://schemas.openxmlformats.org/drawingml/2006/main" noGrp="1"/>
          </p:cNvSpPr>
          <p:nvPr/>
        </p:nvSpPr>
        <p:spPr>
          <a:xfrm xmlns:a="http://schemas.openxmlformats.org/drawingml/2006/main">
            <a:off x="590550" y="5219700"/>
            <a:ext cx="10744200" cy="762000"/>
          </a:xfrm>
          <a:prstGeom xmlns:a="http://schemas.openxmlformats.org/drawingml/2006/main" prst="roundRect">
            <a:avLst>
              <a:gd name="adj" fmla="val 10000"/>
            </a:avLst>
          </a:prstGeom>
          <a:solidFill xmlns:a="http://schemas.openxmlformats.org/drawingml/2006/main">
            <a:srgbClr val="EAF6F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8808078-5BBC-44FE-A669-1FE12F313AC7}"/>
              </a:ext>
            </a:extLst>
          </p:cNvPr>
          <p:cNvSpPr>
            <a:spLocks xmlns:a="http://schemas.openxmlformats.org/drawingml/2006/main" noGrp="1"/>
          </p:cNvSpPr>
          <p:nvPr/>
        </p:nvSpPr>
        <p:spPr>
          <a:xfrm xmlns:a="http://schemas.openxmlformats.org/drawingml/2006/main">
            <a:off x="857250" y="5410200"/>
            <a:ext cx="1019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a:solidFill>
                  <a:srgbClr val="111111"/>
                </a:solidFill>
                <a:latin typeface="Yu Gothic"/>
                <a:ea typeface="Yu Gothic"/>
                <a:cs typeface="Yu Gothic"/>
              </a:defRPr>
            </a:pPr>
            <a:r>
              <a:rPr sz="1875" b="1">
                <a:solidFill>
                  <a:srgbClr val="111111"/>
                </a:solidFill>
                <a:latin typeface="Yu Gothic"/>
                <a:ea typeface="Yu Gothic"/>
                <a:cs typeface="Yu Gothic"/>
              </a:rPr>
              <a:t>分からない権限要求は、許可せず、分かりやすい言葉で説明してもらう。</a:t>
            </a:r>
          </a:p>
        </p:txBody>
      </p:sp>
    </p:spTree>
    <p:extLst>
      <p:ext uri="{BB962C8B-B14F-4D97-AF65-F5344CB8AC3E}">
        <p14:creationId xmlns:p14="http://schemas.microsoft.com/office/powerpoint/2010/main" val="12503170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EFE092-4240-45C4-A6CD-8FAF1A0CD649}"/>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3｜無料・低コストの選択肢</a:t>
            </a:r>
          </a:p>
        </p:txBody>
      </p:sp>
      <p:sp>
        <p:nvSpPr>
          <p:cNvPr id="2" name="">
            <a:extLst xmlns:a="http://schemas.openxmlformats.org/drawingml/2006/main">
              <a:ext uri="{FF2B5EF4-FFF2-40B4-BE49-F238E27FC236}">
                <a16:creationId xmlns:a16="http://schemas.microsoft.com/office/drawing/2014/main" id="{9C521C9D-04AE-4B39-B97E-3A824A49663B}"/>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小さく始めるための道具</a:t>
            </a:r>
          </a:p>
        </p:txBody>
      </p:sp>
      <p:cxnSp>
        <p:nvCxnSpPr>
          <p:cNvPr id="14"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75FE870C-D773-4452-9170-0B08253B7152}"/>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13</a:t>
            </a:r>
          </a:p>
        </p:txBody>
      </p:sp>
      <p:sp>
        <p:nvSpPr>
          <p:cNvPr id="5" name="">
            <a:extLst xmlns:a="http://schemas.openxmlformats.org/drawingml/2006/main">
              <a:ext uri="{FF2B5EF4-FFF2-40B4-BE49-F238E27FC236}">
                <a16:creationId xmlns:a16="http://schemas.microsoft.com/office/drawing/2014/main" id="{F4EC6BE2-BB61-44DA-BEB2-FEBDF203798B}"/>
              </a:ext>
            </a:extLst>
          </p:cNvPr>
          <p:cNvSpPr>
            <a:spLocks xmlns:a="http://schemas.openxmlformats.org/drawingml/2006/main" noGrp="1"/>
          </p:cNvSpPr>
          <p:nvPr/>
        </p:nvSpPr>
        <p:spPr>
          <a:xfrm xmlns:a="http://schemas.openxmlformats.org/drawingml/2006/main">
            <a:off x="609600" y="1952625"/>
            <a:ext cx="3238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3D8DFF"/>
                </a:solidFill>
                <a:latin typeface="Yu Gothic"/>
                <a:ea typeface="Yu Gothic"/>
                <a:cs typeface="Yu Gothic"/>
              </a:defRPr>
            </a:pPr>
            <a:r>
              <a:rPr sz="2325" b="1">
                <a:solidFill>
                  <a:srgbClr val="3D8DFF"/>
                </a:solidFill>
                <a:latin typeface="Yu Gothic"/>
                <a:ea typeface="Yu Gothic"/>
                <a:cs typeface="Yu Gothic"/>
              </a:rPr>
              <a:t>GitHub Pages</a:t>
            </a:r>
          </a:p>
        </p:txBody>
      </p:sp>
      <p:sp>
        <p:nvSpPr>
          <p:cNvPr id="6" name="">
            <a:extLst xmlns:a="http://schemas.openxmlformats.org/drawingml/2006/main">
              <a:ext uri="{FF2B5EF4-FFF2-40B4-BE49-F238E27FC236}">
                <a16:creationId xmlns:a16="http://schemas.microsoft.com/office/drawing/2014/main" id="{D9EDAE46-392B-4189-898F-1770D4D03F2E}"/>
              </a:ext>
            </a:extLst>
          </p:cNvPr>
          <p:cNvSpPr>
            <a:spLocks xmlns:a="http://schemas.openxmlformats.org/drawingml/2006/main" noGrp="1"/>
          </p:cNvSpPr>
          <p:nvPr/>
        </p:nvSpPr>
        <p:spPr>
          <a:xfrm xmlns:a="http://schemas.openxmlformats.org/drawingml/2006/main">
            <a:off x="609600" y="278130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静的Webサイトを無料公開</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Aタイプ・Level 1向け</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完成後のAI費用なし</a:t>
            </a:r>
          </a:p>
        </p:txBody>
      </p:sp>
      <p:sp>
        <p:nvSpPr>
          <p:cNvPr id="7" name="">
            <a:extLst xmlns:a="http://schemas.openxmlformats.org/drawingml/2006/main">
              <a:ext uri="{FF2B5EF4-FFF2-40B4-BE49-F238E27FC236}">
                <a16:creationId xmlns:a16="http://schemas.microsoft.com/office/drawing/2014/main" id="{216F23BB-71A2-43F0-A29B-DF314152EA2C}"/>
              </a:ext>
            </a:extLst>
          </p:cNvPr>
          <p:cNvSpPr>
            <a:spLocks xmlns:a="http://schemas.openxmlformats.org/drawingml/2006/main" noGrp="1"/>
          </p:cNvSpPr>
          <p:nvPr/>
        </p:nvSpPr>
        <p:spPr>
          <a:xfrm xmlns:a="http://schemas.openxmlformats.org/drawingml/2006/main">
            <a:off x="4476750" y="1952625"/>
            <a:ext cx="3238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11111"/>
                </a:solidFill>
                <a:latin typeface="Yu Gothic"/>
                <a:ea typeface="Yu Gothic"/>
                <a:cs typeface="Yu Gothic"/>
              </a:defRPr>
            </a:pPr>
            <a:r>
              <a:rPr sz="2325" b="1">
                <a:solidFill>
                  <a:srgbClr val="111111"/>
                </a:solidFill>
                <a:latin typeface="Yu Gothic"/>
                <a:ea typeface="Yu Gothic"/>
                <a:cs typeface="Yu Gothic"/>
              </a:rPr>
              <a:t>Google Apps Script</a:t>
            </a:r>
          </a:p>
        </p:txBody>
      </p:sp>
      <p:sp>
        <p:nvSpPr>
          <p:cNvPr id="8" name="">
            <a:extLst xmlns:a="http://schemas.openxmlformats.org/drawingml/2006/main">
              <a:ext uri="{FF2B5EF4-FFF2-40B4-BE49-F238E27FC236}">
                <a16:creationId xmlns:a16="http://schemas.microsoft.com/office/drawing/2014/main" id="{D8E35533-37F6-41F7-A73A-3AE9BE7724FC}"/>
              </a:ext>
            </a:extLst>
          </p:cNvPr>
          <p:cNvSpPr>
            <a:spLocks xmlns:a="http://schemas.openxmlformats.org/drawingml/2006/main" noGrp="1"/>
          </p:cNvSpPr>
          <p:nvPr/>
        </p:nvSpPr>
        <p:spPr>
          <a:xfrm xmlns:a="http://schemas.openxmlformats.org/drawingml/2006/main">
            <a:off x="4476750" y="278130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Google Sheetと連携</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小規模なデータ保存</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自分でServer管理不要</a:t>
            </a:r>
          </a:p>
        </p:txBody>
      </p:sp>
      <p:sp>
        <p:nvSpPr>
          <p:cNvPr id="9" name="">
            <a:extLst xmlns:a="http://schemas.openxmlformats.org/drawingml/2006/main">
              <a:ext uri="{FF2B5EF4-FFF2-40B4-BE49-F238E27FC236}">
                <a16:creationId xmlns:a16="http://schemas.microsoft.com/office/drawing/2014/main" id="{6ACA52CC-F0CB-44A0-9FDB-660328D6BA42}"/>
              </a:ext>
            </a:extLst>
          </p:cNvPr>
          <p:cNvSpPr>
            <a:spLocks xmlns:a="http://schemas.openxmlformats.org/drawingml/2006/main" noGrp="1"/>
          </p:cNvSpPr>
          <p:nvPr/>
        </p:nvSpPr>
        <p:spPr>
          <a:xfrm xmlns:a="http://schemas.openxmlformats.org/drawingml/2006/main">
            <a:off x="8343900" y="1952625"/>
            <a:ext cx="3238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325" b="1">
                <a:solidFill>
                  <a:srgbClr val="111111"/>
                </a:solidFill>
                <a:latin typeface="Yu Gothic"/>
                <a:ea typeface="Yu Gothic"/>
                <a:cs typeface="Yu Gothic"/>
              </a:defRPr>
            </a:pPr>
            <a:r>
              <a:rPr sz="2325" b="1">
                <a:solidFill>
                  <a:srgbClr val="111111"/>
                </a:solidFill>
                <a:latin typeface="Yu Gothic"/>
                <a:ea typeface="Yu Gothic"/>
                <a:cs typeface="Yu Gothic"/>
              </a:rPr>
              <a:t>Chat／Canvas／Agent</a:t>
            </a:r>
          </a:p>
        </p:txBody>
      </p:sp>
      <p:sp>
        <p:nvSpPr>
          <p:cNvPr id="10" name="">
            <a:extLst xmlns:a="http://schemas.openxmlformats.org/drawingml/2006/main">
              <a:ext uri="{FF2B5EF4-FFF2-40B4-BE49-F238E27FC236}">
                <a16:creationId xmlns:a16="http://schemas.microsoft.com/office/drawing/2014/main" id="{0BE4BBFB-EEF7-44D1-B573-FBEAC6788BB0}"/>
              </a:ext>
            </a:extLst>
          </p:cNvPr>
          <p:cNvSpPr>
            <a:spLocks xmlns:a="http://schemas.openxmlformats.org/drawingml/2006/main" noGrp="1"/>
          </p:cNvSpPr>
          <p:nvPr/>
        </p:nvSpPr>
        <p:spPr>
          <a:xfrm xmlns:a="http://schemas.openxmlformats.org/drawingml/2006/main">
            <a:off x="8343900" y="278130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考える → Chat</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試す → Canvas</a:t>
            </a:r>
          </a:p>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育てる → Agent</a:t>
            </a:r>
          </a:p>
        </p:txBody>
      </p:sp>
      <p:sp>
        <p:nvSpPr>
          <p:cNvPr id="11" name="">
            <a:extLst xmlns:a="http://schemas.openxmlformats.org/drawingml/2006/main">
              <a:ext uri="{FF2B5EF4-FFF2-40B4-BE49-F238E27FC236}">
                <a16:creationId xmlns:a16="http://schemas.microsoft.com/office/drawing/2014/main" id="{5872A38F-6562-43A5-A7F2-AF73A5D6DC01}"/>
              </a:ext>
            </a:extLst>
          </p:cNvPr>
          <p:cNvSpPr>
            <a:spLocks xmlns:a="http://schemas.openxmlformats.org/drawingml/2006/main" noGrp="1"/>
          </p:cNvSpPr>
          <p:nvPr/>
        </p:nvSpPr>
        <p:spPr>
          <a:xfrm xmlns:a="http://schemas.openxmlformats.org/drawingml/2006/main">
            <a:off x="609600" y="533400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100" b="1">
                <a:solidFill>
                  <a:srgbClr val="111111"/>
                </a:solidFill>
                <a:latin typeface="Yu Gothic"/>
                <a:ea typeface="Yu Gothic"/>
                <a:cs typeface="Yu Gothic"/>
              </a:defRPr>
            </a:pPr>
            <a:r>
              <a:rPr sz="2100" b="1">
                <a:solidFill>
                  <a:srgbClr val="111111"/>
                </a:solidFill>
                <a:latin typeface="Yu Gothic"/>
                <a:ea typeface="Yu Gothic"/>
                <a:cs typeface="Yu Gothic"/>
              </a:rPr>
              <a:t>一つを選び続ける必要はない。段階ごとに使い分ける。</a:t>
            </a:r>
          </a:p>
        </p:txBody>
      </p:sp>
    </p:spTree>
    <p:extLst>
      <p:ext uri="{BB962C8B-B14F-4D97-AF65-F5344CB8AC3E}">
        <p14:creationId xmlns:p14="http://schemas.microsoft.com/office/powerpoint/2010/main" val="15969806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B37F163-50B3-489E-ADC1-5B10D324C9DB}"/>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4｜まとめ</a:t>
            </a:r>
          </a:p>
        </p:txBody>
      </p:sp>
      <p:sp>
        <p:nvSpPr>
          <p:cNvPr id="2" name="">
            <a:extLst xmlns:a="http://schemas.openxmlformats.org/drawingml/2006/main">
              <a:ext uri="{FF2B5EF4-FFF2-40B4-BE49-F238E27FC236}">
                <a16:creationId xmlns:a16="http://schemas.microsoft.com/office/drawing/2014/main" id="{7E72C72A-2557-4409-BBDB-BE7574C2288B}"/>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教師の強みは、教育のKnow-how</a:t>
            </a:r>
          </a:p>
        </p:txBody>
      </p:sp>
      <p:cxnSp>
        <p:nvCxnSpPr>
          <p:cNvPr id="18"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7478DC3A-EEAC-4AA4-A6BB-5FE27099D7E7}"/>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14</a:t>
            </a:r>
          </a:p>
        </p:txBody>
      </p:sp>
      <p:sp>
        <p:nvSpPr>
          <p:cNvPr id="5" name="">
            <a:extLst xmlns:a="http://schemas.openxmlformats.org/drawingml/2006/main">
              <a:ext uri="{FF2B5EF4-FFF2-40B4-BE49-F238E27FC236}">
                <a16:creationId xmlns:a16="http://schemas.microsoft.com/office/drawing/2014/main" id="{DE4CB84E-9878-4331-89DD-36DD56131774}"/>
              </a:ext>
            </a:extLst>
          </p:cNvPr>
          <p:cNvSpPr>
            <a:spLocks xmlns:a="http://schemas.openxmlformats.org/drawingml/2006/main" noGrp="1"/>
          </p:cNvSpPr>
          <p:nvPr/>
        </p:nvSpPr>
        <p:spPr>
          <a:xfrm xmlns:a="http://schemas.openxmlformats.org/drawingml/2006/main">
            <a:off x="609600" y="20574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3D8DFF"/>
                </a:solidFill>
                <a:latin typeface="Yu Gothic"/>
                <a:ea typeface="Yu Gothic"/>
                <a:cs typeface="Yu Gothic"/>
              </a:defRPr>
            </a:pPr>
            <a:r>
              <a:rPr sz="2250" b="1">
                <a:solidFill>
                  <a:srgbClr val="3D8DFF"/>
                </a:solidFill>
                <a:latin typeface="Yu Gothic"/>
                <a:ea typeface="Yu Gothic"/>
                <a:cs typeface="Yu Gothic"/>
              </a:rPr>
              <a:t>学生を知る</a:t>
            </a:r>
          </a:p>
        </p:txBody>
      </p:sp>
      <p:cxnSp>
        <p:nvCxnSpPr>
          <p:cNvPr id="21" name=""/>
          <p:cNvCxnSpPr/>
          <p:nvPr/>
        </p:nvCxnSpPr>
        <p:spPr>
          <a:xfrm xmlns:a="http://schemas.openxmlformats.org/drawingml/2006/main">
            <a:off x="609600" y="2781300"/>
            <a:ext cx="2952750" cy="0"/>
          </a:xfrm>
          <a:prstGeom xmlns:a="http://schemas.openxmlformats.org/drawingml/2006/main" prst="straightConnector1">
            <a:avLst/>
          </a:prstGeom>
          <a:ln xmlns:a="http://schemas.openxmlformats.org/drawingml/2006/main" w="38100">
            <a:solidFill>
              <a:srgbClr val="3D8DFF"/>
            </a:solidFill>
            <a:prstDash val="solid"/>
          </a:ln>
        </p:spPr>
      </p:cxnSp>
      <p:sp>
        <p:nvSpPr>
          <p:cNvPr id="7" name="">
            <a:extLst xmlns:a="http://schemas.openxmlformats.org/drawingml/2006/main">
              <a:ext uri="{FF2B5EF4-FFF2-40B4-BE49-F238E27FC236}">
                <a16:creationId xmlns:a16="http://schemas.microsoft.com/office/drawing/2014/main" id="{F86886A8-838F-40E9-B605-F56AE05FE630}"/>
              </a:ext>
            </a:extLst>
          </p:cNvPr>
          <p:cNvSpPr>
            <a:spLocks xmlns:a="http://schemas.openxmlformats.org/drawingml/2006/main" noGrp="1"/>
          </p:cNvSpPr>
          <p:nvPr/>
        </p:nvSpPr>
        <p:spPr>
          <a:xfrm xmlns:a="http://schemas.openxmlformats.org/drawingml/2006/main">
            <a:off x="609600" y="3105150"/>
            <a:ext cx="3143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国・目的・レベルで</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必要な語彙が違う</a:t>
            </a:r>
          </a:p>
        </p:txBody>
      </p:sp>
      <p:sp>
        <p:nvSpPr>
          <p:cNvPr id="8" name="">
            <a:extLst xmlns:a="http://schemas.openxmlformats.org/drawingml/2006/main">
              <a:ext uri="{FF2B5EF4-FFF2-40B4-BE49-F238E27FC236}">
                <a16:creationId xmlns:a16="http://schemas.microsoft.com/office/drawing/2014/main" id="{685D5334-8C5A-425C-A28A-FC248F1B9B05}"/>
              </a:ext>
            </a:extLst>
          </p:cNvPr>
          <p:cNvSpPr>
            <a:spLocks xmlns:a="http://schemas.openxmlformats.org/drawingml/2006/main" noGrp="1"/>
          </p:cNvSpPr>
          <p:nvPr/>
        </p:nvSpPr>
        <p:spPr>
          <a:xfrm xmlns:a="http://schemas.openxmlformats.org/drawingml/2006/main">
            <a:off x="4286250" y="20574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教材を判断する</a:t>
            </a:r>
          </a:p>
        </p:txBody>
      </p:sp>
      <p:cxnSp>
        <p:nvCxnSpPr>
          <p:cNvPr id="24" name=""/>
          <p:cNvCxnSpPr/>
          <p:nvPr/>
        </p:nvCxnSpPr>
        <p:spPr>
          <a:xfrm xmlns:a="http://schemas.openxmlformats.org/drawingml/2006/main">
            <a:off x="4286250" y="2781300"/>
            <a:ext cx="2952750" cy="0"/>
          </a:xfrm>
          <a:prstGeom xmlns:a="http://schemas.openxmlformats.org/drawingml/2006/main" prst="straightConnector1">
            <a:avLst/>
          </a:prstGeom>
          <a:ln xmlns:a="http://schemas.openxmlformats.org/drawingml/2006/main" w="19050">
            <a:solidFill>
              <a:srgbClr val="C6CBD2"/>
            </a:solidFill>
            <a:prstDash val="solid"/>
          </a:ln>
        </p:spPr>
      </p:cxnSp>
      <p:sp>
        <p:nvSpPr>
          <p:cNvPr id="10" name="">
            <a:extLst xmlns:a="http://schemas.openxmlformats.org/drawingml/2006/main">
              <a:ext uri="{FF2B5EF4-FFF2-40B4-BE49-F238E27FC236}">
                <a16:creationId xmlns:a16="http://schemas.microsoft.com/office/drawing/2014/main" id="{93C761B1-924A-47BB-B0CC-38C78AD8804B}"/>
              </a:ext>
            </a:extLst>
          </p:cNvPr>
          <p:cNvSpPr>
            <a:spLocks xmlns:a="http://schemas.openxmlformats.org/drawingml/2006/main" noGrp="1"/>
          </p:cNvSpPr>
          <p:nvPr/>
        </p:nvSpPr>
        <p:spPr>
          <a:xfrm xmlns:a="http://schemas.openxmlformats.org/drawingml/2006/main">
            <a:off x="4286250" y="3105150"/>
            <a:ext cx="3143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自然さ・難易度・</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教育的価値を見抜く</a:t>
            </a:r>
          </a:p>
        </p:txBody>
      </p:sp>
      <p:sp>
        <p:nvSpPr>
          <p:cNvPr id="11" name="">
            <a:extLst xmlns:a="http://schemas.openxmlformats.org/drawingml/2006/main">
              <a:ext uri="{FF2B5EF4-FFF2-40B4-BE49-F238E27FC236}">
                <a16:creationId xmlns:a16="http://schemas.microsoft.com/office/drawing/2014/main" id="{18400541-B322-4658-8D01-BCFF0B2DFFA4}"/>
              </a:ext>
            </a:extLst>
          </p:cNvPr>
          <p:cNvSpPr>
            <a:spLocks xmlns:a="http://schemas.openxmlformats.org/drawingml/2006/main" noGrp="1"/>
          </p:cNvSpPr>
          <p:nvPr/>
        </p:nvSpPr>
        <p:spPr>
          <a:xfrm xmlns:a="http://schemas.openxmlformats.org/drawingml/2006/main">
            <a:off x="7962900" y="20574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250" b="1">
                <a:solidFill>
                  <a:srgbClr val="111111"/>
                </a:solidFill>
                <a:latin typeface="Yu Gothic"/>
                <a:ea typeface="Yu Gothic"/>
                <a:cs typeface="Yu Gothic"/>
              </a:defRPr>
            </a:pPr>
            <a:r>
              <a:rPr sz="2250" b="1">
                <a:solidFill>
                  <a:srgbClr val="111111"/>
                </a:solidFill>
                <a:latin typeface="Yu Gothic"/>
                <a:ea typeface="Yu Gothic"/>
                <a:cs typeface="Yu Gothic"/>
              </a:rPr>
              <a:t>すぐ試して直す</a:t>
            </a:r>
          </a:p>
        </p:txBody>
      </p:sp>
      <p:cxnSp>
        <p:nvCxnSpPr>
          <p:cNvPr id="27" name=""/>
          <p:cNvCxnSpPr/>
          <p:nvPr/>
        </p:nvCxnSpPr>
        <p:spPr>
          <a:xfrm xmlns:a="http://schemas.openxmlformats.org/drawingml/2006/main">
            <a:off x="7962900" y="2781300"/>
            <a:ext cx="2952750" cy="0"/>
          </a:xfrm>
          <a:prstGeom xmlns:a="http://schemas.openxmlformats.org/drawingml/2006/main" prst="straightConnector1">
            <a:avLst/>
          </a:prstGeom>
          <a:ln xmlns:a="http://schemas.openxmlformats.org/drawingml/2006/main" w="19050">
            <a:solidFill>
              <a:srgbClr val="C6CBD2"/>
            </a:solidFill>
            <a:prstDash val="solid"/>
          </a:ln>
        </p:spPr>
      </p:cxnSp>
      <p:sp>
        <p:nvSpPr>
          <p:cNvPr id="13" name="">
            <a:extLst xmlns:a="http://schemas.openxmlformats.org/drawingml/2006/main">
              <a:ext uri="{FF2B5EF4-FFF2-40B4-BE49-F238E27FC236}">
                <a16:creationId xmlns:a16="http://schemas.microsoft.com/office/drawing/2014/main" id="{CAA6DC2A-4424-4DF0-AE12-0E554A12C893}"/>
              </a:ext>
            </a:extLst>
          </p:cNvPr>
          <p:cNvSpPr>
            <a:spLocks xmlns:a="http://schemas.openxmlformats.org/drawingml/2006/main" noGrp="1"/>
          </p:cNvSpPr>
          <p:nvPr/>
        </p:nvSpPr>
        <p:spPr>
          <a:xfrm xmlns:a="http://schemas.openxmlformats.org/drawingml/2006/main">
            <a:off x="7962900" y="3105150"/>
            <a:ext cx="3143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実際の授業で使い</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反応をAIへ返す</a:t>
            </a:r>
          </a:p>
        </p:txBody>
      </p:sp>
      <p:sp>
        <p:nvSpPr>
          <p:cNvPr id="14" name="">
            <a:extLst xmlns:a="http://schemas.openxmlformats.org/drawingml/2006/main">
              <a:ext uri="{FF2B5EF4-FFF2-40B4-BE49-F238E27FC236}">
                <a16:creationId xmlns:a16="http://schemas.microsoft.com/office/drawing/2014/main" id="{7FDA868D-7479-4E12-A2BC-D8DD2F061134}"/>
              </a:ext>
            </a:extLst>
          </p:cNvPr>
          <p:cNvSpPr>
            <a:spLocks xmlns:a="http://schemas.openxmlformats.org/drawingml/2006/main" noGrp="1"/>
          </p:cNvSpPr>
          <p:nvPr/>
        </p:nvSpPr>
        <p:spPr>
          <a:xfrm xmlns:a="http://schemas.openxmlformats.org/drawingml/2006/main">
            <a:off x="609600" y="4991100"/>
            <a:ext cx="10496550" cy="1047750"/>
          </a:xfrm>
          <a:prstGeom xmlns:a="http://schemas.openxmlformats.org/drawingml/2006/main" prst="roundRect">
            <a:avLst>
              <a:gd name="adj" fmla="val 7273"/>
            </a:avLst>
          </a:prstGeom>
          <a:solidFill xmlns:a="http://schemas.openxmlformats.org/drawingml/2006/main">
            <a:srgbClr val="F1F3F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40B1E8B-532D-496D-8C58-D94464875606}"/>
              </a:ext>
            </a:extLst>
          </p:cNvPr>
          <p:cNvSpPr>
            <a:spLocks xmlns:a="http://schemas.openxmlformats.org/drawingml/2006/main" noGrp="1"/>
          </p:cNvSpPr>
          <p:nvPr/>
        </p:nvSpPr>
        <p:spPr>
          <a:xfrm xmlns:a="http://schemas.openxmlformats.org/drawingml/2006/main">
            <a:off x="876300" y="5200650"/>
            <a:ext cx="9963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111111"/>
                </a:solidFill>
                <a:latin typeface="Yu Gothic"/>
                <a:ea typeface="Yu Gothic"/>
                <a:cs typeface="Yu Gothic"/>
              </a:defRPr>
            </a:pPr>
            <a:r>
              <a:rPr sz="2025" b="1">
                <a:solidFill>
                  <a:srgbClr val="111111"/>
                </a:solidFill>
                <a:latin typeface="Yu Gothic"/>
                <a:ea typeface="Yu Gothic"/>
                <a:cs typeface="Yu Gothic"/>
              </a:rPr>
              <a:t>台湾の学習者：漢字の意味には強い。</a:t>
            </a:r>
          </a:p>
          <a:p xmlns:a="http://schemas.openxmlformats.org/drawingml/2006/main">
            <a:pPr algn="ctr">
              <a:defRPr sz="2025" b="1">
                <a:solidFill>
                  <a:srgbClr val="111111"/>
                </a:solidFill>
                <a:latin typeface="Yu Gothic"/>
                <a:ea typeface="Yu Gothic"/>
                <a:cs typeface="Yu Gothic"/>
              </a:defRPr>
            </a:pPr>
            <a:r>
              <a:rPr sz="2025" b="1">
                <a:solidFill>
                  <a:srgbClr val="111111"/>
                </a:solidFill>
                <a:latin typeface="Yu Gothic"/>
                <a:ea typeface="Yu Gothic"/>
                <a:cs typeface="Yu Gothic"/>
              </a:rPr>
              <a:t>しかし、日本語の読み方や実用場面は別の課題。</a:t>
            </a:r>
          </a:p>
        </p:txBody>
      </p:sp>
    </p:spTree>
    <p:extLst>
      <p:ext uri="{BB962C8B-B14F-4D97-AF65-F5344CB8AC3E}">
        <p14:creationId xmlns:p14="http://schemas.microsoft.com/office/powerpoint/2010/main" val="10891759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758417-37D7-4A03-AD62-B082C7DDC400}"/>
              </a:ext>
            </a:extLst>
          </p:cNvPr>
          <p:cNvSpPr>
            <a:spLocks xmlns:a="http://schemas.openxmlformats.org/drawingml/2006/main" noGrp="1"/>
          </p:cNvSpPr>
          <p:nvPr/>
        </p:nvSpPr>
        <p:spPr>
          <a:xfrm xmlns:a="http://schemas.openxmlformats.org/drawingml/2006/main">
            <a:off x="685800" y="990600"/>
            <a:ext cx="9525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900" b="1">
                <a:solidFill>
                  <a:srgbClr val="111111"/>
                </a:solidFill>
                <a:latin typeface="Yu Gothic"/>
                <a:ea typeface="Yu Gothic"/>
                <a:cs typeface="Yu Gothic"/>
              </a:defRPr>
            </a:pPr>
            <a:r>
              <a:rPr sz="3900" b="1">
                <a:solidFill>
                  <a:srgbClr val="111111"/>
                </a:solidFill>
                <a:latin typeface="Yu Gothic"/>
                <a:ea typeface="Yu Gothic"/>
                <a:cs typeface="Yu Gothic"/>
              </a:rPr>
              <a:t>AIは能力を拡張する。</a:t>
            </a:r>
          </a:p>
        </p:txBody>
      </p:sp>
      <p:sp>
        <p:nvSpPr>
          <p:cNvPr id="2" name="">
            <a:extLst xmlns:a="http://schemas.openxmlformats.org/drawingml/2006/main">
              <a:ext uri="{FF2B5EF4-FFF2-40B4-BE49-F238E27FC236}">
                <a16:creationId xmlns:a16="http://schemas.microsoft.com/office/drawing/2014/main" id="{E00A03E5-1C1E-4C54-8535-D49B662EA73F}"/>
              </a:ext>
            </a:extLst>
          </p:cNvPr>
          <p:cNvSpPr>
            <a:spLocks xmlns:a="http://schemas.openxmlformats.org/drawingml/2006/main" noGrp="1"/>
          </p:cNvSpPr>
          <p:nvPr/>
        </p:nvSpPr>
        <p:spPr>
          <a:xfrm xmlns:a="http://schemas.openxmlformats.org/drawingml/2006/main">
            <a:off x="685800" y="2000250"/>
            <a:ext cx="85725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900" b="1">
                <a:solidFill>
                  <a:srgbClr val="3D8DFF"/>
                </a:solidFill>
                <a:latin typeface="Yu Gothic"/>
                <a:ea typeface="Yu Gothic"/>
                <a:cs typeface="Yu Gothic"/>
              </a:defRPr>
            </a:pPr>
            <a:r>
              <a:rPr sz="3900" b="1">
                <a:solidFill>
                  <a:srgbClr val="3D8DFF"/>
                </a:solidFill>
                <a:latin typeface="Yu Gothic"/>
                <a:ea typeface="Yu Gothic"/>
                <a:cs typeface="Yu Gothic"/>
              </a:rPr>
              <a:t>だからこそ、</a:t>
            </a:r>
          </a:p>
          <a:p xmlns:a="http://schemas.openxmlformats.org/drawingml/2006/main">
            <a:pPr algn="l">
              <a:defRPr sz="3900" b="1">
                <a:solidFill>
                  <a:srgbClr val="3D8DFF"/>
                </a:solidFill>
                <a:latin typeface="Yu Gothic"/>
                <a:ea typeface="Yu Gothic"/>
                <a:cs typeface="Yu Gothic"/>
              </a:defRPr>
            </a:pPr>
            <a:r>
              <a:rPr sz="3900" b="1">
                <a:solidFill>
                  <a:srgbClr val="3D8DFF"/>
                </a:solidFill>
                <a:latin typeface="Yu Gothic"/>
                <a:ea typeface="Yu Gothic"/>
                <a:cs typeface="Yu Gothic"/>
              </a:rPr>
              <a:t>何を拡張するかが大切。</a:t>
            </a:r>
          </a:p>
        </p:txBody>
      </p:sp>
      <p:cxnSp>
        <p:nvCxnSpPr>
          <p:cNvPr id="9" name=""/>
          <p:cNvCxnSpPr/>
          <p:nvPr/>
        </p:nvCxnSpPr>
        <p:spPr>
          <a:xfrm xmlns:a="http://schemas.openxmlformats.org/drawingml/2006/main">
            <a:off x="685800" y="3829050"/>
            <a:ext cx="2476500" cy="0"/>
          </a:xfrm>
          <a:prstGeom xmlns:a="http://schemas.openxmlformats.org/drawingml/2006/main" prst="straightConnector1">
            <a:avLst/>
          </a:prstGeom>
          <a:ln xmlns:a="http://schemas.openxmlformats.org/drawingml/2006/main" w="38100">
            <a:solidFill>
              <a:srgbClr val="111111"/>
            </a:solidFill>
            <a:prstDash val="solid"/>
          </a:ln>
        </p:spPr>
      </p:cxnSp>
      <p:sp>
        <p:nvSpPr>
          <p:cNvPr id="4" name="">
            <a:extLst xmlns:a="http://schemas.openxmlformats.org/drawingml/2006/main">
              <a:ext uri="{FF2B5EF4-FFF2-40B4-BE49-F238E27FC236}">
                <a16:creationId xmlns:a16="http://schemas.microsoft.com/office/drawing/2014/main" id="{BFB9DFD3-626E-4E11-96C7-10777CAE8497}"/>
              </a:ext>
            </a:extLst>
          </p:cNvPr>
          <p:cNvSpPr>
            <a:spLocks xmlns:a="http://schemas.openxmlformats.org/drawingml/2006/main" noGrp="1"/>
          </p:cNvSpPr>
          <p:nvPr/>
        </p:nvSpPr>
        <p:spPr>
          <a:xfrm xmlns:a="http://schemas.openxmlformats.org/drawingml/2006/main">
            <a:off x="685800" y="4267200"/>
            <a:ext cx="10287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AIは、学生がなぜ日本語を学ぶのか知らない。</a:t>
            </a:r>
          </a:p>
          <a:p xmlns:a="http://schemas.openxmlformats.org/drawingml/2006/main">
            <a:pPr algn="l">
              <a:defRPr sz="2550" b="1">
                <a:solidFill>
                  <a:srgbClr val="111111"/>
                </a:solidFill>
                <a:latin typeface="Yu Gothic"/>
                <a:ea typeface="Yu Gothic"/>
                <a:cs typeface="Yu Gothic"/>
              </a:defRPr>
            </a:pPr>
            <a:r>
              <a:rPr sz="2550" b="1">
                <a:solidFill>
                  <a:srgbClr val="111111"/>
                </a:solidFill>
                <a:latin typeface="Yu Gothic"/>
                <a:ea typeface="Yu Gothic"/>
                <a:cs typeface="Yu Gothic"/>
              </a:rPr>
              <a:t>でも先生は知っている。</a:t>
            </a:r>
          </a:p>
        </p:txBody>
      </p:sp>
      <p:sp>
        <p:nvSpPr>
          <p:cNvPr id="5" name="">
            <a:extLst xmlns:a="http://schemas.openxmlformats.org/drawingml/2006/main">
              <a:ext uri="{FF2B5EF4-FFF2-40B4-BE49-F238E27FC236}">
                <a16:creationId xmlns:a16="http://schemas.microsoft.com/office/drawing/2014/main" id="{F7005AB9-9369-46C5-91DE-EDB1802AB75F}"/>
              </a:ext>
            </a:extLst>
          </p:cNvPr>
          <p:cNvSpPr>
            <a:spLocks xmlns:a="http://schemas.openxmlformats.org/drawingml/2006/main" noGrp="1"/>
          </p:cNvSpPr>
          <p:nvPr/>
        </p:nvSpPr>
        <p:spPr>
          <a:xfrm xmlns:a="http://schemas.openxmlformats.org/drawingml/2006/main">
            <a:off x="685800" y="5829300"/>
            <a:ext cx="1028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5D6470"/>
                </a:solidFill>
                <a:latin typeface="Yu Gothic"/>
                <a:ea typeface="Yu Gothic"/>
                <a:cs typeface="Yu Gothic"/>
              </a:defRPr>
            </a:pPr>
            <a:r>
              <a:rPr sz="1800" b="0">
                <a:solidFill>
                  <a:srgbClr val="5D6470"/>
                </a:solidFill>
                <a:latin typeface="Yu Gothic"/>
                <a:ea typeface="Yu Gothic"/>
                <a:cs typeface="Yu Gothic"/>
              </a:rPr>
              <a:t>教育の洞察で、AIという優秀なインターンを導く。</a:t>
            </a:r>
          </a:p>
        </p:txBody>
      </p:sp>
      <p:sp>
        <p:nvSpPr>
          <p:cNvPr id="6" name="">
            <a:extLst xmlns:a="http://schemas.openxmlformats.org/drawingml/2006/main">
              <a:ext uri="{FF2B5EF4-FFF2-40B4-BE49-F238E27FC236}">
                <a16:creationId xmlns:a16="http://schemas.microsoft.com/office/drawing/2014/main" id="{C9C3D2ED-BFA8-4020-B72E-AE96C88593F3}"/>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15</a:t>
            </a:r>
          </a:p>
        </p:txBody>
      </p:sp>
    </p:spTree>
    <p:extLst>
      <p:ext uri="{BB962C8B-B14F-4D97-AF65-F5344CB8AC3E}">
        <p14:creationId xmlns:p14="http://schemas.microsoft.com/office/powerpoint/2010/main" val="10495355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95AEBE-B520-404C-8641-C553C4A059E6}"/>
              </a:ext>
            </a:extLst>
          </p:cNvPr>
          <p:cNvSpPr>
            <a:spLocks xmlns:a="http://schemas.openxmlformats.org/drawingml/2006/main" noGrp="1"/>
          </p:cNvSpPr>
          <p:nvPr/>
        </p:nvSpPr>
        <p:spPr>
          <a:xfrm xmlns:a="http://schemas.openxmlformats.org/drawingml/2006/main">
            <a:off x="533400" y="2857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3D8DFF"/>
                </a:solidFill>
                <a:latin typeface="Yu Gothic"/>
                <a:ea typeface="Yu Gothic"/>
                <a:cs typeface="Yu Gothic"/>
              </a:defRPr>
            </a:pPr>
            <a:r>
              <a:rPr sz="1200" b="1">
                <a:solidFill>
                  <a:srgbClr val="3D8DFF"/>
                </a:solidFill>
                <a:latin typeface="Yu Gothic"/>
                <a:ea typeface="Yu Gothic"/>
                <a:cs typeface="Yu Gothic"/>
              </a:rPr>
              <a:t>付録｜今回は詳しく扱わない</a:t>
            </a:r>
          </a:p>
        </p:txBody>
      </p:sp>
      <p:sp>
        <p:nvSpPr>
          <p:cNvPr id="2" name="">
            <a:extLst xmlns:a="http://schemas.openxmlformats.org/drawingml/2006/main">
              <a:ext uri="{FF2B5EF4-FFF2-40B4-BE49-F238E27FC236}">
                <a16:creationId xmlns:a16="http://schemas.microsoft.com/office/drawing/2014/main" id="{9D13951A-8A89-440F-BBB0-B67FDCA67690}"/>
              </a:ext>
            </a:extLst>
          </p:cNvPr>
          <p:cNvSpPr>
            <a:spLocks xmlns:a="http://schemas.openxmlformats.org/drawingml/2006/main" noGrp="1"/>
          </p:cNvSpPr>
          <p:nvPr/>
        </p:nvSpPr>
        <p:spPr>
          <a:xfrm xmlns:a="http://schemas.openxmlformats.org/drawingml/2006/main">
            <a:off x="533400" y="62865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a:solidFill>
                  <a:srgbClr val="111111"/>
                </a:solidFill>
                <a:latin typeface="Yu Gothic"/>
                <a:ea typeface="Yu Gothic"/>
                <a:cs typeface="Yu Gothic"/>
              </a:defRPr>
            </a:pPr>
            <a:r>
              <a:rPr sz="3450" b="1">
                <a:solidFill>
                  <a:srgbClr val="111111"/>
                </a:solidFill>
                <a:latin typeface="Yu Gothic"/>
                <a:ea typeface="Yu Gothic"/>
                <a:cs typeface="Yu Gothic"/>
              </a:rPr>
              <a:t>次回：MCPとAIワークフロー</a:t>
            </a:r>
          </a:p>
        </p:txBody>
      </p:sp>
      <p:cxnSp>
        <p:nvCxnSpPr>
          <p:cNvPr id="15" name=""/>
          <p:cNvCxnSpPr/>
          <p:nvPr/>
        </p:nvCxnSpPr>
        <p:spPr>
          <a:xfrm xmlns:a="http://schemas.openxmlformats.org/drawingml/2006/main">
            <a:off x="533400" y="1371600"/>
            <a:ext cx="11125200" cy="0"/>
          </a:xfrm>
          <a:prstGeom xmlns:a="http://schemas.openxmlformats.org/drawingml/2006/main" prst="straightConnector1">
            <a:avLst/>
          </a:prstGeom>
          <a:ln xmlns:a="http://schemas.openxmlformats.org/drawingml/2006/main" w="9525">
            <a:solidFill>
              <a:srgbClr val="C6CBD2"/>
            </a:solidFill>
            <a:prstDash val="solid"/>
          </a:ln>
        </p:spPr>
      </p:cxnSp>
      <p:sp>
        <p:nvSpPr>
          <p:cNvPr id="4" name="">
            <a:extLst xmlns:a="http://schemas.openxmlformats.org/drawingml/2006/main">
              <a:ext uri="{FF2B5EF4-FFF2-40B4-BE49-F238E27FC236}">
                <a16:creationId xmlns:a16="http://schemas.microsoft.com/office/drawing/2014/main" id="{B42AA976-DEF1-4404-97A4-70F588CD7DF2}"/>
              </a:ext>
            </a:extLst>
          </p:cNvPr>
          <p:cNvSpPr>
            <a:spLocks xmlns:a="http://schemas.openxmlformats.org/drawingml/2006/main" noGrp="1"/>
          </p:cNvSpPr>
          <p:nvPr/>
        </p:nvSpPr>
        <p:spPr>
          <a:xfrm xmlns:a="http://schemas.openxmlformats.org/drawingml/2006/main">
            <a:off x="11144250" y="64198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0">
                <a:solidFill>
                  <a:srgbClr val="5D6470"/>
                </a:solidFill>
                <a:latin typeface="Yu Gothic"/>
                <a:ea typeface="Yu Gothic"/>
                <a:cs typeface="Yu Gothic"/>
              </a:defRPr>
            </a:pPr>
            <a:r>
              <a:rPr sz="1050" b="0">
                <a:solidFill>
                  <a:srgbClr val="5D6470"/>
                </a:solidFill>
                <a:latin typeface="Yu Gothic"/>
                <a:ea typeface="Yu Gothic"/>
                <a:cs typeface="Yu Gothic"/>
              </a:rPr>
              <a:t>16</a:t>
            </a:r>
          </a:p>
        </p:txBody>
      </p:sp>
      <p:sp>
        <p:nvSpPr>
          <p:cNvPr id="5" name="">
            <a:extLst xmlns:a="http://schemas.openxmlformats.org/drawingml/2006/main">
              <a:ext uri="{FF2B5EF4-FFF2-40B4-BE49-F238E27FC236}">
                <a16:creationId xmlns:a16="http://schemas.microsoft.com/office/drawing/2014/main" id="{096896BD-5926-4D93-B1C4-296387925123}"/>
              </a:ext>
            </a:extLst>
          </p:cNvPr>
          <p:cNvSpPr>
            <a:spLocks xmlns:a="http://schemas.openxmlformats.org/drawingml/2006/main" noGrp="1"/>
          </p:cNvSpPr>
          <p:nvPr/>
        </p:nvSpPr>
        <p:spPr>
          <a:xfrm xmlns:a="http://schemas.openxmlformats.org/drawingml/2006/main">
            <a:off x="685800" y="207645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a:solidFill>
                  <a:srgbClr val="3D8DFF"/>
                </a:solidFill>
                <a:latin typeface="Yu Gothic"/>
                <a:ea typeface="Yu Gothic"/>
                <a:cs typeface="Yu Gothic"/>
              </a:defRPr>
            </a:pPr>
            <a:r>
              <a:rPr sz="2550" b="1">
                <a:solidFill>
                  <a:srgbClr val="3D8DFF"/>
                </a:solidFill>
                <a:latin typeface="Yu Gothic"/>
                <a:ea typeface="Yu Gothic"/>
                <a:cs typeface="Yu Gothic"/>
              </a:rPr>
              <a:t>Notion</a:t>
            </a:r>
          </a:p>
        </p:txBody>
      </p:sp>
      <p:sp>
        <p:nvSpPr>
          <p:cNvPr id="6" name="">
            <a:extLst xmlns:a="http://schemas.openxmlformats.org/drawingml/2006/main">
              <a:ext uri="{FF2B5EF4-FFF2-40B4-BE49-F238E27FC236}">
                <a16:creationId xmlns:a16="http://schemas.microsoft.com/office/drawing/2014/main" id="{F3A920E1-4C62-4987-9E15-18F453A262EB}"/>
              </a:ext>
            </a:extLst>
          </p:cNvPr>
          <p:cNvSpPr>
            <a:spLocks xmlns:a="http://schemas.openxmlformats.org/drawingml/2006/main" noGrp="1"/>
          </p:cNvSpPr>
          <p:nvPr/>
        </p:nvSpPr>
        <p:spPr>
          <a:xfrm xmlns:a="http://schemas.openxmlformats.org/drawingml/2006/main">
            <a:off x="685800" y="2857500"/>
            <a:ext cx="3143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プロジェクト整理</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タスクボード作成</a:t>
            </a:r>
          </a:p>
        </p:txBody>
      </p:sp>
      <p:sp>
        <p:nvSpPr>
          <p:cNvPr id="7" name="">
            <a:extLst xmlns:a="http://schemas.openxmlformats.org/drawingml/2006/main">
              <a:ext uri="{FF2B5EF4-FFF2-40B4-BE49-F238E27FC236}">
                <a16:creationId xmlns:a16="http://schemas.microsoft.com/office/drawing/2014/main" id="{2C9DE77C-BE1D-496F-B240-E4F2FF76C8A9}"/>
              </a:ext>
            </a:extLst>
          </p:cNvPr>
          <p:cNvSpPr>
            <a:spLocks xmlns:a="http://schemas.openxmlformats.org/drawingml/2006/main" noGrp="1"/>
          </p:cNvSpPr>
          <p:nvPr/>
        </p:nvSpPr>
        <p:spPr>
          <a:xfrm xmlns:a="http://schemas.openxmlformats.org/drawingml/2006/main">
            <a:off x="4343400" y="2076450"/>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111111"/>
                </a:solidFill>
                <a:latin typeface="Yu Gothic"/>
                <a:ea typeface="Yu Gothic"/>
                <a:cs typeface="Yu Gothic"/>
              </a:defRPr>
            </a:pPr>
            <a:r>
              <a:rPr sz="2400" b="1">
                <a:solidFill>
                  <a:srgbClr val="111111"/>
                </a:solidFill>
                <a:latin typeface="Yu Gothic"/>
                <a:ea typeface="Yu Gothic"/>
                <a:cs typeface="Yu Gothic"/>
              </a:rPr>
              <a:t>Figma／3D</a:t>
            </a:r>
          </a:p>
        </p:txBody>
      </p:sp>
      <p:sp>
        <p:nvSpPr>
          <p:cNvPr id="8" name="">
            <a:extLst xmlns:a="http://schemas.openxmlformats.org/drawingml/2006/main">
              <a:ext uri="{FF2B5EF4-FFF2-40B4-BE49-F238E27FC236}">
                <a16:creationId xmlns:a16="http://schemas.microsoft.com/office/drawing/2014/main" id="{764CFDFF-8313-4669-A583-FACBD330A449}"/>
              </a:ext>
            </a:extLst>
          </p:cNvPr>
          <p:cNvSpPr>
            <a:spLocks xmlns:a="http://schemas.openxmlformats.org/drawingml/2006/main" noGrp="1"/>
          </p:cNvSpPr>
          <p:nvPr/>
        </p:nvSpPr>
        <p:spPr>
          <a:xfrm xmlns:a="http://schemas.openxmlformats.org/drawingml/2006/main">
            <a:off x="4343400" y="2857500"/>
            <a:ext cx="2857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デザインを読む</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シーンを作る・直す</a:t>
            </a:r>
          </a:p>
        </p:txBody>
      </p:sp>
      <p:sp>
        <p:nvSpPr>
          <p:cNvPr id="9" name="">
            <a:extLst xmlns:a="http://schemas.openxmlformats.org/drawingml/2006/main">
              <a:ext uri="{FF2B5EF4-FFF2-40B4-BE49-F238E27FC236}">
                <a16:creationId xmlns:a16="http://schemas.microsoft.com/office/drawing/2014/main" id="{E8F314CD-650F-403B-BD34-16C7C68ECFEA}"/>
              </a:ext>
            </a:extLst>
          </p:cNvPr>
          <p:cNvSpPr>
            <a:spLocks xmlns:a="http://schemas.openxmlformats.org/drawingml/2006/main" noGrp="1"/>
          </p:cNvSpPr>
          <p:nvPr/>
        </p:nvSpPr>
        <p:spPr>
          <a:xfrm xmlns:a="http://schemas.openxmlformats.org/drawingml/2006/main">
            <a:off x="8191500" y="2076450"/>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400" b="1">
                <a:solidFill>
                  <a:srgbClr val="111111"/>
                </a:solidFill>
                <a:latin typeface="Yu Gothic"/>
                <a:ea typeface="Yu Gothic"/>
                <a:cs typeface="Yu Gothic"/>
              </a:defRPr>
            </a:pPr>
            <a:r>
              <a:rPr sz="2400" b="1">
                <a:solidFill>
                  <a:srgbClr val="111111"/>
                </a:solidFill>
                <a:latin typeface="Yu Gothic"/>
                <a:ea typeface="Yu Gothic"/>
                <a:cs typeface="Yu Gothic"/>
              </a:rPr>
              <a:t>Browser</a:t>
            </a:r>
          </a:p>
        </p:txBody>
      </p:sp>
      <p:sp>
        <p:nvSpPr>
          <p:cNvPr id="10" name="">
            <a:extLst xmlns:a="http://schemas.openxmlformats.org/drawingml/2006/main">
              <a:ext uri="{FF2B5EF4-FFF2-40B4-BE49-F238E27FC236}">
                <a16:creationId xmlns:a16="http://schemas.microsoft.com/office/drawing/2014/main" id="{5181A1A3-7E65-40AA-A6FC-B0BC2E9D86CC}"/>
              </a:ext>
            </a:extLst>
          </p:cNvPr>
          <p:cNvSpPr>
            <a:spLocks xmlns:a="http://schemas.openxmlformats.org/drawingml/2006/main" noGrp="1"/>
          </p:cNvSpPr>
          <p:nvPr/>
        </p:nvSpPr>
        <p:spPr>
          <a:xfrm xmlns:a="http://schemas.openxmlformats.org/drawingml/2006/main">
            <a:off x="8191500" y="2857500"/>
            <a:ext cx="2857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Webサイトを開く</a:t>
            </a:r>
          </a:p>
          <a:p xmlns:a="http://schemas.openxmlformats.org/drawingml/2006/main">
            <a:pPr algn="l">
              <a:defRPr sz="1875" b="0">
                <a:solidFill>
                  <a:srgbClr val="5D6470"/>
                </a:solidFill>
                <a:latin typeface="Yu Gothic"/>
                <a:ea typeface="Yu Gothic"/>
                <a:cs typeface="Yu Gothic"/>
              </a:defRPr>
            </a:pPr>
            <a:r>
              <a:rPr sz="1875" b="0">
                <a:solidFill>
                  <a:srgbClr val="5D6470"/>
                </a:solidFill>
                <a:latin typeface="Yu Gothic"/>
                <a:ea typeface="Yu Gothic"/>
                <a:cs typeface="Yu Gothic"/>
              </a:rPr>
              <a:t>操作してテストする</a:t>
            </a:r>
          </a:p>
        </p:txBody>
      </p:sp>
      <p:sp>
        <p:nvSpPr>
          <p:cNvPr id="11" name="">
            <a:extLst xmlns:a="http://schemas.openxmlformats.org/drawingml/2006/main">
              <a:ext uri="{FF2B5EF4-FFF2-40B4-BE49-F238E27FC236}">
                <a16:creationId xmlns:a16="http://schemas.microsoft.com/office/drawing/2014/main" id="{EF4E5DF4-77A8-41E9-A8EB-49570BAF5EFC}"/>
              </a:ext>
            </a:extLst>
          </p:cNvPr>
          <p:cNvSpPr>
            <a:spLocks xmlns:a="http://schemas.openxmlformats.org/drawingml/2006/main" noGrp="1"/>
          </p:cNvSpPr>
          <p:nvPr/>
        </p:nvSpPr>
        <p:spPr>
          <a:xfrm xmlns:a="http://schemas.openxmlformats.org/drawingml/2006/main">
            <a:off x="685800" y="4895850"/>
            <a:ext cx="10458450" cy="952500"/>
          </a:xfrm>
          <a:prstGeom xmlns:a="http://schemas.openxmlformats.org/drawingml/2006/main" prst="roundRect">
            <a:avLst>
              <a:gd name="adj" fmla="val 8000"/>
            </a:avLst>
          </a:prstGeom>
          <a:solidFill xmlns:a="http://schemas.openxmlformats.org/drawingml/2006/main">
            <a:srgbClr val="EAF6F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45F500-336D-4B1B-A201-288969088098}"/>
              </a:ext>
            </a:extLst>
          </p:cNvPr>
          <p:cNvSpPr>
            <a:spLocks xmlns:a="http://schemas.openxmlformats.org/drawingml/2006/main" noGrp="1"/>
          </p:cNvSpPr>
          <p:nvPr/>
        </p:nvSpPr>
        <p:spPr>
          <a:xfrm xmlns:a="http://schemas.openxmlformats.org/drawingml/2006/main">
            <a:off x="933450" y="5162550"/>
            <a:ext cx="9963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111111"/>
                </a:solidFill>
                <a:latin typeface="Yu Gothic"/>
                <a:ea typeface="Yu Gothic"/>
                <a:cs typeface="Yu Gothic"/>
              </a:defRPr>
            </a:pPr>
            <a:r>
              <a:rPr sz="2025" b="1">
                <a:solidFill>
                  <a:srgbClr val="111111"/>
                </a:solidFill>
                <a:latin typeface="Yu Gothic"/>
                <a:ea typeface="Yu Gothic"/>
                <a:cs typeface="Yu Gothic"/>
              </a:rPr>
              <a:t>MCPは、AIを外部のデータやツールにつなぐ共通の仕組み。</a:t>
            </a:r>
          </a:p>
        </p:txBody>
      </p:sp>
    </p:spTree>
    <p:extLst>
      <p:ext uri="{BB962C8B-B14F-4D97-AF65-F5344CB8AC3E}">
        <p14:creationId xmlns:p14="http://schemas.microsoft.com/office/powerpoint/2010/main" val="2879647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2026-08-24T17:37:41.2600000Z</dcterms:created>
  <dcterms:modified xsi:type="dcterms:W3CDTF">2026-08-24T17:37:41.2600000Z</dcterms:modified>
</coreProperties>
</file>